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302" r:id="rId2"/>
    <p:sldId id="283" r:id="rId3"/>
    <p:sldId id="292" r:id="rId4"/>
    <p:sldId id="298" r:id="rId5"/>
    <p:sldId id="293" r:id="rId6"/>
    <p:sldId id="299" r:id="rId7"/>
    <p:sldId id="277" r:id="rId8"/>
    <p:sldId id="294" r:id="rId9"/>
    <p:sldId id="287" r:id="rId10"/>
    <p:sldId id="288" r:id="rId11"/>
    <p:sldId id="295" r:id="rId12"/>
    <p:sldId id="257" r:id="rId13"/>
    <p:sldId id="338" r:id="rId14"/>
    <p:sldId id="264" r:id="rId15"/>
    <p:sldId id="339" r:id="rId16"/>
    <p:sldId id="259" r:id="rId17"/>
    <p:sldId id="340" r:id="rId18"/>
    <p:sldId id="341" r:id="rId19"/>
    <p:sldId id="258" r:id="rId20"/>
    <p:sldId id="309" r:id="rId21"/>
    <p:sldId id="310" r:id="rId22"/>
    <p:sldId id="307" r:id="rId23"/>
    <p:sldId id="262" r:id="rId24"/>
    <p:sldId id="260" r:id="rId25"/>
    <p:sldId id="261" r:id="rId26"/>
    <p:sldId id="308" r:id="rId27"/>
    <p:sldId id="280" r:id="rId28"/>
    <p:sldId id="266" r:id="rId29"/>
    <p:sldId id="311" r:id="rId30"/>
    <p:sldId id="267" r:id="rId31"/>
    <p:sldId id="268" r:id="rId32"/>
    <p:sldId id="269" r:id="rId33"/>
    <p:sldId id="305" r:id="rId34"/>
    <p:sldId id="271" r:id="rId35"/>
    <p:sldId id="272" r:id="rId36"/>
    <p:sldId id="273" r:id="rId37"/>
    <p:sldId id="274" r:id="rId38"/>
    <p:sldId id="275" r:id="rId39"/>
    <p:sldId id="296" r:id="rId40"/>
    <p:sldId id="297" r:id="rId41"/>
    <p:sldId id="263" r:id="rId42"/>
    <p:sldId id="265" r:id="rId43"/>
    <p:sldId id="342" r:id="rId44"/>
    <p:sldId id="343" r:id="rId45"/>
    <p:sldId id="344" r:id="rId46"/>
    <p:sldId id="345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589CE6-7741-4C32-86E9-E91ED38C4613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FDCC3C1-390C-461B-89CD-42CC8AAFB2FF}">
      <dgm:prSet phldrT="[Text]"/>
      <dgm:spPr/>
      <dgm:t>
        <a:bodyPr/>
        <a:lstStyle/>
        <a:p>
          <a:r>
            <a:rPr lang="en-IN" dirty="0"/>
            <a:t>1</a:t>
          </a:r>
        </a:p>
      </dgm:t>
    </dgm:pt>
    <dgm:pt modelId="{7DB8B7CE-FF0F-4312-A6CD-9C74C814EA9C}" type="parTrans" cxnId="{5E5CF931-5AA0-477B-9F70-A5D2B352F842}">
      <dgm:prSet/>
      <dgm:spPr/>
      <dgm:t>
        <a:bodyPr/>
        <a:lstStyle/>
        <a:p>
          <a:endParaRPr lang="en-IN"/>
        </a:p>
      </dgm:t>
    </dgm:pt>
    <dgm:pt modelId="{C39F3D14-B274-4F83-9B1C-7EFA558893EC}" type="sibTrans" cxnId="{5E5CF931-5AA0-477B-9F70-A5D2B352F842}">
      <dgm:prSet/>
      <dgm:spPr/>
      <dgm:t>
        <a:bodyPr/>
        <a:lstStyle/>
        <a:p>
          <a:endParaRPr lang="en-IN"/>
        </a:p>
      </dgm:t>
    </dgm:pt>
    <dgm:pt modelId="{98D9CA36-AA9C-4FB5-909C-58243E462BEA}">
      <dgm:prSet phldrT="[Text]"/>
      <dgm:spPr/>
      <dgm:t>
        <a:bodyPr/>
        <a:lstStyle/>
        <a:p>
          <a:r>
            <a:rPr lang="en-IN" dirty="0"/>
            <a:t>Event by client is fired</a:t>
          </a:r>
        </a:p>
      </dgm:t>
    </dgm:pt>
    <dgm:pt modelId="{83E4A035-C891-4A5B-9311-9A62FF7D645E}" type="parTrans" cxnId="{F407855F-86E8-4A2A-A565-2BB605D3792E}">
      <dgm:prSet/>
      <dgm:spPr/>
      <dgm:t>
        <a:bodyPr/>
        <a:lstStyle/>
        <a:p>
          <a:endParaRPr lang="en-IN"/>
        </a:p>
      </dgm:t>
    </dgm:pt>
    <dgm:pt modelId="{E63BBDAA-3B5E-4457-81F5-5C315A3F2C21}" type="sibTrans" cxnId="{F407855F-86E8-4A2A-A565-2BB605D3792E}">
      <dgm:prSet/>
      <dgm:spPr/>
      <dgm:t>
        <a:bodyPr/>
        <a:lstStyle/>
        <a:p>
          <a:endParaRPr lang="en-IN"/>
        </a:p>
      </dgm:t>
    </dgm:pt>
    <dgm:pt modelId="{6A61F078-F009-4EB1-AFB4-D1A9BE5365A6}">
      <dgm:prSet phldrT="[Text]"/>
      <dgm:spPr/>
      <dgm:t>
        <a:bodyPr/>
        <a:lstStyle/>
        <a:p>
          <a:r>
            <a:rPr lang="en-IN" dirty="0"/>
            <a:t>2</a:t>
          </a:r>
        </a:p>
      </dgm:t>
    </dgm:pt>
    <dgm:pt modelId="{E13A5BAB-9208-4265-B5C3-D1C86D2EC0D4}" type="parTrans" cxnId="{F54AB055-4D6A-4595-81CA-EF176F3F12D0}">
      <dgm:prSet/>
      <dgm:spPr/>
      <dgm:t>
        <a:bodyPr/>
        <a:lstStyle/>
        <a:p>
          <a:endParaRPr lang="en-IN"/>
        </a:p>
      </dgm:t>
    </dgm:pt>
    <dgm:pt modelId="{EF8D0608-B719-4864-B634-8C3221E62BB8}" type="sibTrans" cxnId="{F54AB055-4D6A-4595-81CA-EF176F3F12D0}">
      <dgm:prSet/>
      <dgm:spPr/>
      <dgm:t>
        <a:bodyPr/>
        <a:lstStyle/>
        <a:p>
          <a:endParaRPr lang="en-IN"/>
        </a:p>
      </dgm:t>
    </dgm:pt>
    <dgm:pt modelId="{5D9FE537-1F4B-410C-9825-D966AA8241A9}">
      <dgm:prSet phldrT="[Text]"/>
      <dgm:spPr/>
      <dgm:t>
        <a:bodyPr/>
        <a:lstStyle/>
        <a:p>
          <a:r>
            <a:rPr lang="en-IN" dirty="0" err="1"/>
            <a:t>XMLHttpRequest</a:t>
          </a:r>
          <a:r>
            <a:rPr lang="en-IN" dirty="0"/>
            <a:t> object is created</a:t>
          </a:r>
        </a:p>
      </dgm:t>
    </dgm:pt>
    <dgm:pt modelId="{3E10E8F8-1000-47B6-970E-AB01CCFABDA3}" type="parTrans" cxnId="{92299C59-FAB7-4293-BB92-E18C1C7B3264}">
      <dgm:prSet/>
      <dgm:spPr/>
      <dgm:t>
        <a:bodyPr/>
        <a:lstStyle/>
        <a:p>
          <a:endParaRPr lang="en-IN"/>
        </a:p>
      </dgm:t>
    </dgm:pt>
    <dgm:pt modelId="{C1961533-396A-498A-85CE-4142BC970A19}" type="sibTrans" cxnId="{92299C59-FAB7-4293-BB92-E18C1C7B3264}">
      <dgm:prSet/>
      <dgm:spPr/>
      <dgm:t>
        <a:bodyPr/>
        <a:lstStyle/>
        <a:p>
          <a:endParaRPr lang="en-IN"/>
        </a:p>
      </dgm:t>
    </dgm:pt>
    <dgm:pt modelId="{77F51FDB-CD29-49C1-AE96-F43BEA99B94A}">
      <dgm:prSet phldrT="[Text]"/>
      <dgm:spPr/>
      <dgm:t>
        <a:bodyPr/>
        <a:lstStyle/>
        <a:p>
          <a:r>
            <a:rPr lang="en-IN" dirty="0"/>
            <a:t>3</a:t>
          </a:r>
        </a:p>
      </dgm:t>
    </dgm:pt>
    <dgm:pt modelId="{9CA8ABDD-E816-4F6A-930D-13FB6DF66A78}" type="parTrans" cxnId="{18BC9DE8-4A1F-4DCE-B0E9-E2E7D543F06D}">
      <dgm:prSet/>
      <dgm:spPr/>
      <dgm:t>
        <a:bodyPr/>
        <a:lstStyle/>
        <a:p>
          <a:endParaRPr lang="en-IN"/>
        </a:p>
      </dgm:t>
    </dgm:pt>
    <dgm:pt modelId="{6EAA3EA3-5545-4B49-826B-4862663057CD}" type="sibTrans" cxnId="{18BC9DE8-4A1F-4DCE-B0E9-E2E7D543F06D}">
      <dgm:prSet/>
      <dgm:spPr/>
      <dgm:t>
        <a:bodyPr/>
        <a:lstStyle/>
        <a:p>
          <a:endParaRPr lang="en-IN"/>
        </a:p>
      </dgm:t>
    </dgm:pt>
    <dgm:pt modelId="{176197AD-B5EB-472F-B2CC-46058B1A0098}">
      <dgm:prSet phldrT="[Text]"/>
      <dgm:spPr/>
      <dgm:t>
        <a:bodyPr/>
        <a:lstStyle/>
        <a:p>
          <a:r>
            <a:rPr lang="en-IN" dirty="0"/>
            <a:t>HTML DOM is updated</a:t>
          </a:r>
        </a:p>
      </dgm:t>
    </dgm:pt>
    <dgm:pt modelId="{5ABC5DE7-E962-443E-9148-73A78CFCF42C}" type="parTrans" cxnId="{A0704E5F-27C7-42BA-9A2C-A6CBE6830D35}">
      <dgm:prSet/>
      <dgm:spPr/>
      <dgm:t>
        <a:bodyPr/>
        <a:lstStyle/>
        <a:p>
          <a:endParaRPr lang="en-IN"/>
        </a:p>
      </dgm:t>
    </dgm:pt>
    <dgm:pt modelId="{D6DD06CE-C8C6-451A-931B-FA07084FB5D7}" type="sibTrans" cxnId="{A0704E5F-27C7-42BA-9A2C-A6CBE6830D35}">
      <dgm:prSet/>
      <dgm:spPr/>
      <dgm:t>
        <a:bodyPr/>
        <a:lstStyle/>
        <a:p>
          <a:endParaRPr lang="en-IN"/>
        </a:p>
      </dgm:t>
    </dgm:pt>
    <dgm:pt modelId="{370712F4-D747-44AC-9B45-599F7EE59D00}">
      <dgm:prSet phldrT="[Text]"/>
      <dgm:spPr/>
      <dgm:t>
        <a:bodyPr/>
        <a:lstStyle/>
        <a:p>
          <a:r>
            <a:rPr lang="en-IN" dirty="0"/>
            <a:t>4</a:t>
          </a:r>
        </a:p>
      </dgm:t>
    </dgm:pt>
    <dgm:pt modelId="{E1147617-2A04-4D7B-8452-00878C2BF18F}" type="parTrans" cxnId="{24E519F4-D18B-48B4-91B7-C46383E8758D}">
      <dgm:prSet/>
      <dgm:spPr/>
      <dgm:t>
        <a:bodyPr/>
        <a:lstStyle/>
        <a:p>
          <a:endParaRPr lang="en-IN"/>
        </a:p>
      </dgm:t>
    </dgm:pt>
    <dgm:pt modelId="{EB7802D2-5DEA-43D5-A939-15A8011ECDBC}" type="sibTrans" cxnId="{24E519F4-D18B-48B4-91B7-C46383E8758D}">
      <dgm:prSet/>
      <dgm:spPr/>
      <dgm:t>
        <a:bodyPr/>
        <a:lstStyle/>
        <a:p>
          <a:endParaRPr lang="en-IN"/>
        </a:p>
      </dgm:t>
    </dgm:pt>
    <dgm:pt modelId="{82554002-83FD-4DD9-8D09-8D45269DB550}">
      <dgm:prSet phldrT="[Text]"/>
      <dgm:spPr/>
      <dgm:t>
        <a:bodyPr/>
        <a:lstStyle/>
        <a:p>
          <a:r>
            <a:rPr lang="en-IN" dirty="0"/>
            <a:t>5</a:t>
          </a:r>
        </a:p>
      </dgm:t>
    </dgm:pt>
    <dgm:pt modelId="{69F22946-B2F5-4FC1-AD19-34BB29A2FE3A}" type="parTrans" cxnId="{14E2CB6D-5EE8-4773-9ED7-C8637AA61EA5}">
      <dgm:prSet/>
      <dgm:spPr/>
      <dgm:t>
        <a:bodyPr/>
        <a:lstStyle/>
        <a:p>
          <a:endParaRPr lang="en-IN"/>
        </a:p>
      </dgm:t>
    </dgm:pt>
    <dgm:pt modelId="{BD502250-2681-41D2-95E0-E777D1BB9EC2}" type="sibTrans" cxnId="{14E2CB6D-5EE8-4773-9ED7-C8637AA61EA5}">
      <dgm:prSet/>
      <dgm:spPr/>
      <dgm:t>
        <a:bodyPr/>
        <a:lstStyle/>
        <a:p>
          <a:endParaRPr lang="en-IN"/>
        </a:p>
      </dgm:t>
    </dgm:pt>
    <dgm:pt modelId="{E9EFDF95-5EB7-4CC1-8107-B5C6C269117E}">
      <dgm:prSet phldrT="[Text]"/>
      <dgm:spPr/>
      <dgm:t>
        <a:bodyPr/>
        <a:lstStyle/>
        <a:p>
          <a:r>
            <a:rPr lang="en-IN" dirty="0"/>
            <a:t>6</a:t>
          </a:r>
        </a:p>
      </dgm:t>
    </dgm:pt>
    <dgm:pt modelId="{8BEA4D68-68FC-4387-B132-A3AEE9BC8BBD}" type="parTrans" cxnId="{CC83BE79-CC84-40FE-815C-55908154AF5F}">
      <dgm:prSet/>
      <dgm:spPr/>
      <dgm:t>
        <a:bodyPr/>
        <a:lstStyle/>
        <a:p>
          <a:endParaRPr lang="en-IN"/>
        </a:p>
      </dgm:t>
    </dgm:pt>
    <dgm:pt modelId="{F21A373B-7AC0-4C01-AE67-8334CB6BD518}" type="sibTrans" cxnId="{CC83BE79-CC84-40FE-815C-55908154AF5F}">
      <dgm:prSet/>
      <dgm:spPr/>
      <dgm:t>
        <a:bodyPr/>
        <a:lstStyle/>
        <a:p>
          <a:endParaRPr lang="en-IN"/>
        </a:p>
      </dgm:t>
    </dgm:pt>
    <dgm:pt modelId="{1068C61F-093C-4900-B640-9FBC14F336E2}">
      <dgm:prSet phldrT="[Text]"/>
      <dgm:spPr/>
      <dgm:t>
        <a:bodyPr/>
        <a:lstStyle/>
        <a:p>
          <a:r>
            <a:rPr lang="en-IN" dirty="0"/>
            <a:t>7</a:t>
          </a:r>
        </a:p>
      </dgm:t>
    </dgm:pt>
    <dgm:pt modelId="{A17DA53E-9A75-4451-AB7B-4A3EAE1EFCD4}" type="parTrans" cxnId="{1D28310C-8581-4C93-8C04-00807CAE275B}">
      <dgm:prSet/>
      <dgm:spPr/>
      <dgm:t>
        <a:bodyPr/>
        <a:lstStyle/>
        <a:p>
          <a:endParaRPr lang="en-IN"/>
        </a:p>
      </dgm:t>
    </dgm:pt>
    <dgm:pt modelId="{A6422349-B477-46FD-A09C-D9831EEA596C}" type="sibTrans" cxnId="{1D28310C-8581-4C93-8C04-00807CAE275B}">
      <dgm:prSet/>
      <dgm:spPr/>
      <dgm:t>
        <a:bodyPr/>
        <a:lstStyle/>
        <a:p>
          <a:endParaRPr lang="en-IN"/>
        </a:p>
      </dgm:t>
    </dgm:pt>
    <dgm:pt modelId="{7004057F-4672-40F1-84C3-84A383B2603C}">
      <dgm:prSet/>
      <dgm:spPr/>
      <dgm:t>
        <a:bodyPr/>
        <a:lstStyle/>
        <a:p>
          <a:r>
            <a:rPr lang="en-IN" dirty="0" err="1"/>
            <a:t>XMLHttpRequest</a:t>
          </a:r>
          <a:r>
            <a:rPr lang="en-IN" dirty="0"/>
            <a:t> object is configured</a:t>
          </a:r>
        </a:p>
      </dgm:t>
    </dgm:pt>
    <dgm:pt modelId="{9C320205-403C-4404-A833-760EA629B2C2}" type="parTrans" cxnId="{77AE318A-04FF-4490-944C-1B9F83546689}">
      <dgm:prSet/>
      <dgm:spPr/>
      <dgm:t>
        <a:bodyPr/>
        <a:lstStyle/>
        <a:p>
          <a:endParaRPr lang="en-IN"/>
        </a:p>
      </dgm:t>
    </dgm:pt>
    <dgm:pt modelId="{B28EB8E1-F97F-4B98-AE64-BFD1C3C2168F}" type="sibTrans" cxnId="{77AE318A-04FF-4490-944C-1B9F83546689}">
      <dgm:prSet/>
      <dgm:spPr/>
      <dgm:t>
        <a:bodyPr/>
        <a:lstStyle/>
        <a:p>
          <a:endParaRPr lang="en-IN"/>
        </a:p>
      </dgm:t>
    </dgm:pt>
    <dgm:pt modelId="{E59CFC74-C230-4D81-842D-2F064CF37C27}">
      <dgm:prSet/>
      <dgm:spPr/>
      <dgm:t>
        <a:bodyPr/>
        <a:lstStyle/>
        <a:p>
          <a:r>
            <a:rPr lang="en-IN" dirty="0"/>
            <a:t>Asynchronous request is made by </a:t>
          </a:r>
          <a:r>
            <a:rPr lang="en-IN" dirty="0" err="1"/>
            <a:t>XMLHttpRequest</a:t>
          </a:r>
          <a:r>
            <a:rPr lang="en-IN" dirty="0"/>
            <a:t> to Webserver</a:t>
          </a:r>
        </a:p>
      </dgm:t>
    </dgm:pt>
    <dgm:pt modelId="{7A8B90C5-3963-4A04-BB93-2466DEB38065}" type="sibTrans" cxnId="{F8534864-9252-4C2C-84FB-1A968F2CB7B7}">
      <dgm:prSet/>
      <dgm:spPr/>
      <dgm:t>
        <a:bodyPr/>
        <a:lstStyle/>
        <a:p>
          <a:endParaRPr lang="en-IN"/>
        </a:p>
      </dgm:t>
    </dgm:pt>
    <dgm:pt modelId="{4B9F2D89-C8E9-443C-BCF6-6878C9CCEB86}" type="parTrans" cxnId="{F8534864-9252-4C2C-84FB-1A968F2CB7B7}">
      <dgm:prSet/>
      <dgm:spPr/>
      <dgm:t>
        <a:bodyPr/>
        <a:lstStyle/>
        <a:p>
          <a:endParaRPr lang="en-IN"/>
        </a:p>
      </dgm:t>
    </dgm:pt>
    <dgm:pt modelId="{4C112903-0B0A-4826-A4E8-31A6C80D4056}">
      <dgm:prSet/>
      <dgm:spPr/>
      <dgm:t>
        <a:bodyPr/>
        <a:lstStyle/>
        <a:p>
          <a:r>
            <a:rPr lang="en-IN" dirty="0"/>
            <a:t>Webserver returns result in XML format</a:t>
          </a:r>
        </a:p>
      </dgm:t>
    </dgm:pt>
    <dgm:pt modelId="{82D91124-8C01-4C38-AA71-9B525193E7B0}" type="parTrans" cxnId="{F7AA72EF-C060-48FD-9299-204F68FE3084}">
      <dgm:prSet/>
      <dgm:spPr/>
      <dgm:t>
        <a:bodyPr/>
        <a:lstStyle/>
        <a:p>
          <a:endParaRPr lang="en-IN"/>
        </a:p>
      </dgm:t>
    </dgm:pt>
    <dgm:pt modelId="{CD6E47A3-C745-4B57-B200-DD5A4E5272D8}" type="sibTrans" cxnId="{F7AA72EF-C060-48FD-9299-204F68FE3084}">
      <dgm:prSet/>
      <dgm:spPr/>
      <dgm:t>
        <a:bodyPr/>
        <a:lstStyle/>
        <a:p>
          <a:endParaRPr lang="en-IN"/>
        </a:p>
      </dgm:t>
    </dgm:pt>
    <dgm:pt modelId="{C6455E62-3F25-49A1-81C0-E499837909FB}">
      <dgm:prSet/>
      <dgm:spPr/>
      <dgm:t>
        <a:bodyPr/>
        <a:lstStyle/>
        <a:p>
          <a:r>
            <a:rPr lang="en-IN" dirty="0" err="1"/>
            <a:t>Callback</a:t>
          </a:r>
          <a:r>
            <a:rPr lang="en-IN" dirty="0"/>
            <a:t>() function is called by </a:t>
          </a:r>
          <a:r>
            <a:rPr lang="en-IN" dirty="0" err="1"/>
            <a:t>XMLHttpRequest</a:t>
          </a:r>
          <a:r>
            <a:rPr lang="en-IN" dirty="0"/>
            <a:t> object</a:t>
          </a:r>
        </a:p>
      </dgm:t>
    </dgm:pt>
    <dgm:pt modelId="{9D73F7F6-B066-46EC-9257-E45B639AB2D0}" type="parTrans" cxnId="{DA656E23-D120-4414-B338-A188700CD4BD}">
      <dgm:prSet/>
      <dgm:spPr/>
      <dgm:t>
        <a:bodyPr/>
        <a:lstStyle/>
        <a:p>
          <a:endParaRPr lang="en-IN"/>
        </a:p>
      </dgm:t>
    </dgm:pt>
    <dgm:pt modelId="{8948183A-5057-4FC9-AA18-3AF2D6F9C9AB}" type="sibTrans" cxnId="{DA656E23-D120-4414-B338-A188700CD4BD}">
      <dgm:prSet/>
      <dgm:spPr/>
      <dgm:t>
        <a:bodyPr/>
        <a:lstStyle/>
        <a:p>
          <a:endParaRPr lang="en-IN"/>
        </a:p>
      </dgm:t>
    </dgm:pt>
    <dgm:pt modelId="{DFF995AC-C9F1-4E6D-BF2C-24544A9C0C2D}" type="pres">
      <dgm:prSet presAssocID="{0A589CE6-7741-4C32-86E9-E91ED38C4613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B987E96-75A3-4DF0-99CB-EB1D473F88CC}" type="pres">
      <dgm:prSet presAssocID="{CFDCC3C1-390C-461B-89CD-42CC8AAFB2FF}" presName="composite" presStyleCnt="0"/>
      <dgm:spPr/>
    </dgm:pt>
    <dgm:pt modelId="{187D6F66-2587-43A0-A5F8-24DDAFC4479D}" type="pres">
      <dgm:prSet presAssocID="{CFDCC3C1-390C-461B-89CD-42CC8AAFB2FF}" presName="parentText" presStyleLbl="alignNode1" presStyleIdx="0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3D0744-BEE1-466E-AF7A-99BAE09CCF72}" type="pres">
      <dgm:prSet presAssocID="{CFDCC3C1-390C-461B-89CD-42CC8AAFB2FF}" presName="descendantText" presStyleLbl="alignAcc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DAB074-1CA3-4EE1-8EEE-EB50118FDD32}" type="pres">
      <dgm:prSet presAssocID="{C39F3D14-B274-4F83-9B1C-7EFA558893EC}" presName="sp" presStyleCnt="0"/>
      <dgm:spPr/>
    </dgm:pt>
    <dgm:pt modelId="{7B907FFD-6C94-4779-8665-7608F40D7C2D}" type="pres">
      <dgm:prSet presAssocID="{6A61F078-F009-4EB1-AFB4-D1A9BE5365A6}" presName="composite" presStyleCnt="0"/>
      <dgm:spPr/>
    </dgm:pt>
    <dgm:pt modelId="{44206EE6-79CA-4827-9164-1BD4EEF81E85}" type="pres">
      <dgm:prSet presAssocID="{6A61F078-F009-4EB1-AFB4-D1A9BE5365A6}" presName="parentText" presStyleLbl="alignNode1" presStyleIdx="1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C716E2-8058-4B41-BC7E-2FEE00567AFD}" type="pres">
      <dgm:prSet presAssocID="{6A61F078-F009-4EB1-AFB4-D1A9BE5365A6}" presName="descendantText" presStyleLbl="alignAcc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F07228-7DD2-4C8D-B4B6-C68CCFF408B9}" type="pres">
      <dgm:prSet presAssocID="{EF8D0608-B719-4864-B634-8C3221E62BB8}" presName="sp" presStyleCnt="0"/>
      <dgm:spPr/>
    </dgm:pt>
    <dgm:pt modelId="{95ADA639-84A5-47BC-984D-11898AE729DC}" type="pres">
      <dgm:prSet presAssocID="{77F51FDB-CD29-49C1-AE96-F43BEA99B94A}" presName="composite" presStyleCnt="0"/>
      <dgm:spPr/>
    </dgm:pt>
    <dgm:pt modelId="{40DA3A44-7079-4D76-A947-5A03EC4AD4C1}" type="pres">
      <dgm:prSet presAssocID="{77F51FDB-CD29-49C1-AE96-F43BEA99B94A}" presName="parentText" presStyleLbl="alignNode1" presStyleIdx="2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BE5DAE-64FB-42EB-AA2B-1B40D90B9AF7}" type="pres">
      <dgm:prSet presAssocID="{77F51FDB-CD29-49C1-AE96-F43BEA99B94A}" presName="descendantText" presStyleLbl="alignAcc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B66242-FF6B-495E-BDCD-529E60BB2EA0}" type="pres">
      <dgm:prSet presAssocID="{6EAA3EA3-5545-4B49-826B-4862663057CD}" presName="sp" presStyleCnt="0"/>
      <dgm:spPr/>
    </dgm:pt>
    <dgm:pt modelId="{92577297-F71D-4649-8EB3-A6AEA79BEDA6}" type="pres">
      <dgm:prSet presAssocID="{370712F4-D747-44AC-9B45-599F7EE59D00}" presName="composite" presStyleCnt="0"/>
      <dgm:spPr/>
    </dgm:pt>
    <dgm:pt modelId="{3E7A31ED-B48E-4C77-B6CC-05F4798215ED}" type="pres">
      <dgm:prSet presAssocID="{370712F4-D747-44AC-9B45-599F7EE59D00}" presName="parentText" presStyleLbl="alignNode1" presStyleIdx="3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A62293-5939-4266-B403-72CE709C3FF4}" type="pres">
      <dgm:prSet presAssocID="{370712F4-D747-44AC-9B45-599F7EE59D00}" presName="descendantText" presStyleLbl="alignAcc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CFF1C1-4B4A-455A-8AAE-5B71A06B57D9}" type="pres">
      <dgm:prSet presAssocID="{EB7802D2-5DEA-43D5-A939-15A8011ECDBC}" presName="sp" presStyleCnt="0"/>
      <dgm:spPr/>
    </dgm:pt>
    <dgm:pt modelId="{EE1A9EF2-1020-4706-9FBB-A4DAEC0CDAFF}" type="pres">
      <dgm:prSet presAssocID="{82554002-83FD-4DD9-8D09-8D45269DB550}" presName="composite" presStyleCnt="0"/>
      <dgm:spPr/>
    </dgm:pt>
    <dgm:pt modelId="{2C50D204-E3D2-4FD9-8A60-8F6B5A447D2D}" type="pres">
      <dgm:prSet presAssocID="{82554002-83FD-4DD9-8D09-8D45269DB550}" presName="parentText" presStyleLbl="alignNode1" presStyleIdx="4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E203BE-A7D0-4EBA-8033-EB64545CCF50}" type="pres">
      <dgm:prSet presAssocID="{82554002-83FD-4DD9-8D09-8D45269DB550}" presName="descendantText" presStyleLbl="alignAcc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F060A12-E05C-4C46-9103-BDC266015E7D}" type="pres">
      <dgm:prSet presAssocID="{BD502250-2681-41D2-95E0-E777D1BB9EC2}" presName="sp" presStyleCnt="0"/>
      <dgm:spPr/>
    </dgm:pt>
    <dgm:pt modelId="{CFB4D695-B8D0-4CF3-A2E5-68B91C75C1B7}" type="pres">
      <dgm:prSet presAssocID="{E9EFDF95-5EB7-4CC1-8107-B5C6C269117E}" presName="composite" presStyleCnt="0"/>
      <dgm:spPr/>
    </dgm:pt>
    <dgm:pt modelId="{583DE2DC-ACCC-4A8A-9F2E-06DB2DE91542}" type="pres">
      <dgm:prSet presAssocID="{E9EFDF95-5EB7-4CC1-8107-B5C6C269117E}" presName="parentText" presStyleLbl="alignNode1" presStyleIdx="5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71CAC0-B210-4304-8265-3AA8898C13B8}" type="pres">
      <dgm:prSet presAssocID="{E9EFDF95-5EB7-4CC1-8107-B5C6C269117E}" presName="descendantText" presStyleLbl="alignAcc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F67C912-B16E-4A3E-8B87-5D465DD1F22D}" type="pres">
      <dgm:prSet presAssocID="{F21A373B-7AC0-4C01-AE67-8334CB6BD518}" presName="sp" presStyleCnt="0"/>
      <dgm:spPr/>
    </dgm:pt>
    <dgm:pt modelId="{7032044A-3572-480B-BA3A-DD92A1D4A635}" type="pres">
      <dgm:prSet presAssocID="{1068C61F-093C-4900-B640-9FBC14F336E2}" presName="composite" presStyleCnt="0"/>
      <dgm:spPr/>
    </dgm:pt>
    <dgm:pt modelId="{E95A60DF-BF4E-4D8E-AEF0-9057F91CEFBD}" type="pres">
      <dgm:prSet presAssocID="{1068C61F-093C-4900-B640-9FBC14F336E2}" presName="parentText" presStyleLbl="alignNode1" presStyleIdx="6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4E411F-D9C8-4213-B648-1C2B68A6A84C}" type="pres">
      <dgm:prSet presAssocID="{1068C61F-093C-4900-B640-9FBC14F336E2}" presName="descendantText" presStyleLbl="alignAcc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2299C59-FAB7-4293-BB92-E18C1C7B3264}" srcId="{6A61F078-F009-4EB1-AFB4-D1A9BE5365A6}" destId="{5D9FE537-1F4B-410C-9825-D966AA8241A9}" srcOrd="0" destOrd="0" parTransId="{3E10E8F8-1000-47B6-970E-AB01CCFABDA3}" sibTransId="{C1961533-396A-498A-85CE-4142BC970A19}"/>
    <dgm:cxn modelId="{F54AB055-4D6A-4595-81CA-EF176F3F12D0}" srcId="{0A589CE6-7741-4C32-86E9-E91ED38C4613}" destId="{6A61F078-F009-4EB1-AFB4-D1A9BE5365A6}" srcOrd="1" destOrd="0" parTransId="{E13A5BAB-9208-4265-B5C3-D1C86D2EC0D4}" sibTransId="{EF8D0608-B719-4864-B634-8C3221E62BB8}"/>
    <dgm:cxn modelId="{24E519F4-D18B-48B4-91B7-C46383E8758D}" srcId="{0A589CE6-7741-4C32-86E9-E91ED38C4613}" destId="{370712F4-D747-44AC-9B45-599F7EE59D00}" srcOrd="3" destOrd="0" parTransId="{E1147617-2A04-4D7B-8452-00878C2BF18F}" sibTransId="{EB7802D2-5DEA-43D5-A939-15A8011ECDBC}"/>
    <dgm:cxn modelId="{8D41EC72-DD9C-410D-8343-39BA1AE2844D}" type="presOf" srcId="{6A61F078-F009-4EB1-AFB4-D1A9BE5365A6}" destId="{44206EE6-79CA-4827-9164-1BD4EEF81E85}" srcOrd="0" destOrd="0" presId="urn:microsoft.com/office/officeart/2005/8/layout/chevron2"/>
    <dgm:cxn modelId="{5E5CF931-5AA0-477B-9F70-A5D2B352F842}" srcId="{0A589CE6-7741-4C32-86E9-E91ED38C4613}" destId="{CFDCC3C1-390C-461B-89CD-42CC8AAFB2FF}" srcOrd="0" destOrd="0" parTransId="{7DB8B7CE-FF0F-4312-A6CD-9C74C814EA9C}" sibTransId="{C39F3D14-B274-4F83-9B1C-7EFA558893EC}"/>
    <dgm:cxn modelId="{14E2CB6D-5EE8-4773-9ED7-C8637AA61EA5}" srcId="{0A589CE6-7741-4C32-86E9-E91ED38C4613}" destId="{82554002-83FD-4DD9-8D09-8D45269DB550}" srcOrd="4" destOrd="0" parTransId="{69F22946-B2F5-4FC1-AD19-34BB29A2FE3A}" sibTransId="{BD502250-2681-41D2-95E0-E777D1BB9EC2}"/>
    <dgm:cxn modelId="{A0704E5F-27C7-42BA-9A2C-A6CBE6830D35}" srcId="{1068C61F-093C-4900-B640-9FBC14F336E2}" destId="{176197AD-B5EB-472F-B2CC-46058B1A0098}" srcOrd="0" destOrd="0" parTransId="{5ABC5DE7-E962-443E-9148-73A78CFCF42C}" sibTransId="{D6DD06CE-C8C6-451A-931B-FA07084FB5D7}"/>
    <dgm:cxn modelId="{2D70F760-F3DA-41EA-9821-2BB2E18C8186}" type="presOf" srcId="{98D9CA36-AA9C-4FB5-909C-58243E462BEA}" destId="{5B3D0744-BEE1-466E-AF7A-99BAE09CCF72}" srcOrd="0" destOrd="0" presId="urn:microsoft.com/office/officeart/2005/8/layout/chevron2"/>
    <dgm:cxn modelId="{3A7AE5AD-E409-4214-8C37-D77D51502E0D}" type="presOf" srcId="{E59CFC74-C230-4D81-842D-2F064CF37C27}" destId="{1FA62293-5939-4266-B403-72CE709C3FF4}" srcOrd="0" destOrd="0" presId="urn:microsoft.com/office/officeart/2005/8/layout/chevron2"/>
    <dgm:cxn modelId="{F7AA72EF-C060-48FD-9299-204F68FE3084}" srcId="{82554002-83FD-4DD9-8D09-8D45269DB550}" destId="{4C112903-0B0A-4826-A4E8-31A6C80D4056}" srcOrd="0" destOrd="0" parTransId="{82D91124-8C01-4C38-AA71-9B525193E7B0}" sibTransId="{CD6E47A3-C745-4B57-B200-DD5A4E5272D8}"/>
    <dgm:cxn modelId="{18BC9DE8-4A1F-4DCE-B0E9-E2E7D543F06D}" srcId="{0A589CE6-7741-4C32-86E9-E91ED38C4613}" destId="{77F51FDB-CD29-49C1-AE96-F43BEA99B94A}" srcOrd="2" destOrd="0" parTransId="{9CA8ABDD-E816-4F6A-930D-13FB6DF66A78}" sibTransId="{6EAA3EA3-5545-4B49-826B-4862663057CD}"/>
    <dgm:cxn modelId="{E36CDEE1-A232-4EAF-91B6-C1CB704D5819}" type="presOf" srcId="{4C112903-0B0A-4826-A4E8-31A6C80D4056}" destId="{94E203BE-A7D0-4EBA-8033-EB64545CCF50}" srcOrd="0" destOrd="0" presId="urn:microsoft.com/office/officeart/2005/8/layout/chevron2"/>
    <dgm:cxn modelId="{77AE318A-04FF-4490-944C-1B9F83546689}" srcId="{77F51FDB-CD29-49C1-AE96-F43BEA99B94A}" destId="{7004057F-4672-40F1-84C3-84A383B2603C}" srcOrd="0" destOrd="0" parTransId="{9C320205-403C-4404-A833-760EA629B2C2}" sibTransId="{B28EB8E1-F97F-4B98-AE64-BFD1C3C2168F}"/>
    <dgm:cxn modelId="{582E8460-7CA7-4CD2-B290-6C05EC071FDC}" type="presOf" srcId="{82554002-83FD-4DD9-8D09-8D45269DB550}" destId="{2C50D204-E3D2-4FD9-8A60-8F6B5A447D2D}" srcOrd="0" destOrd="0" presId="urn:microsoft.com/office/officeart/2005/8/layout/chevron2"/>
    <dgm:cxn modelId="{3524A8A2-2E6A-4AA6-9620-8C8796AA8A39}" type="presOf" srcId="{C6455E62-3F25-49A1-81C0-E499837909FB}" destId="{1F71CAC0-B210-4304-8265-3AA8898C13B8}" srcOrd="0" destOrd="0" presId="urn:microsoft.com/office/officeart/2005/8/layout/chevron2"/>
    <dgm:cxn modelId="{1D28310C-8581-4C93-8C04-00807CAE275B}" srcId="{0A589CE6-7741-4C32-86E9-E91ED38C4613}" destId="{1068C61F-093C-4900-B640-9FBC14F336E2}" srcOrd="6" destOrd="0" parTransId="{A17DA53E-9A75-4451-AB7B-4A3EAE1EFCD4}" sibTransId="{A6422349-B477-46FD-A09C-D9831EEA596C}"/>
    <dgm:cxn modelId="{BD6400A9-4500-4057-8078-47944EE6D11B}" type="presOf" srcId="{E9EFDF95-5EB7-4CC1-8107-B5C6C269117E}" destId="{583DE2DC-ACCC-4A8A-9F2E-06DB2DE91542}" srcOrd="0" destOrd="0" presId="urn:microsoft.com/office/officeart/2005/8/layout/chevron2"/>
    <dgm:cxn modelId="{DA62F527-EA98-4D30-A23D-5EBC9D8E90B1}" type="presOf" srcId="{77F51FDB-CD29-49C1-AE96-F43BEA99B94A}" destId="{40DA3A44-7079-4D76-A947-5A03EC4AD4C1}" srcOrd="0" destOrd="0" presId="urn:microsoft.com/office/officeart/2005/8/layout/chevron2"/>
    <dgm:cxn modelId="{F1AC5C12-DFD6-4F2D-8031-EFE1E7AB8400}" type="presOf" srcId="{1068C61F-093C-4900-B640-9FBC14F336E2}" destId="{E95A60DF-BF4E-4D8E-AEF0-9057F91CEFBD}" srcOrd="0" destOrd="0" presId="urn:microsoft.com/office/officeart/2005/8/layout/chevron2"/>
    <dgm:cxn modelId="{7D6CAEC1-377B-446F-B19E-8E40D8D558E0}" type="presOf" srcId="{5D9FE537-1F4B-410C-9825-D966AA8241A9}" destId="{B0C716E2-8058-4B41-BC7E-2FEE00567AFD}" srcOrd="0" destOrd="0" presId="urn:microsoft.com/office/officeart/2005/8/layout/chevron2"/>
    <dgm:cxn modelId="{52A617A9-951E-457F-B4CF-6A63D622AA4C}" type="presOf" srcId="{176197AD-B5EB-472F-B2CC-46058B1A0098}" destId="{7F4E411F-D9C8-4213-B648-1C2B68A6A84C}" srcOrd="0" destOrd="0" presId="urn:microsoft.com/office/officeart/2005/8/layout/chevron2"/>
    <dgm:cxn modelId="{CC83BE79-CC84-40FE-815C-55908154AF5F}" srcId="{0A589CE6-7741-4C32-86E9-E91ED38C4613}" destId="{E9EFDF95-5EB7-4CC1-8107-B5C6C269117E}" srcOrd="5" destOrd="0" parTransId="{8BEA4D68-68FC-4387-B132-A3AEE9BC8BBD}" sibTransId="{F21A373B-7AC0-4C01-AE67-8334CB6BD518}"/>
    <dgm:cxn modelId="{5ACC9DD7-A013-45F4-B4B3-B7661D31AE20}" type="presOf" srcId="{CFDCC3C1-390C-461B-89CD-42CC8AAFB2FF}" destId="{187D6F66-2587-43A0-A5F8-24DDAFC4479D}" srcOrd="0" destOrd="0" presId="urn:microsoft.com/office/officeart/2005/8/layout/chevron2"/>
    <dgm:cxn modelId="{DA656E23-D120-4414-B338-A188700CD4BD}" srcId="{E9EFDF95-5EB7-4CC1-8107-B5C6C269117E}" destId="{C6455E62-3F25-49A1-81C0-E499837909FB}" srcOrd="0" destOrd="0" parTransId="{9D73F7F6-B066-46EC-9257-E45B639AB2D0}" sibTransId="{8948183A-5057-4FC9-AA18-3AF2D6F9C9AB}"/>
    <dgm:cxn modelId="{4FB814AF-9632-4E76-85F8-D066E9ACC5B2}" type="presOf" srcId="{7004057F-4672-40F1-84C3-84A383B2603C}" destId="{13BE5DAE-64FB-42EB-AA2B-1B40D90B9AF7}" srcOrd="0" destOrd="0" presId="urn:microsoft.com/office/officeart/2005/8/layout/chevron2"/>
    <dgm:cxn modelId="{FA73C82E-2A0D-4010-B765-96E8EBC64EC4}" type="presOf" srcId="{0A589CE6-7741-4C32-86E9-E91ED38C4613}" destId="{DFF995AC-C9F1-4E6D-BF2C-24544A9C0C2D}" srcOrd="0" destOrd="0" presId="urn:microsoft.com/office/officeart/2005/8/layout/chevron2"/>
    <dgm:cxn modelId="{F8534864-9252-4C2C-84FB-1A968F2CB7B7}" srcId="{370712F4-D747-44AC-9B45-599F7EE59D00}" destId="{E59CFC74-C230-4D81-842D-2F064CF37C27}" srcOrd="0" destOrd="0" parTransId="{4B9F2D89-C8E9-443C-BCF6-6878C9CCEB86}" sibTransId="{7A8B90C5-3963-4A04-BB93-2466DEB38065}"/>
    <dgm:cxn modelId="{F407855F-86E8-4A2A-A565-2BB605D3792E}" srcId="{CFDCC3C1-390C-461B-89CD-42CC8AAFB2FF}" destId="{98D9CA36-AA9C-4FB5-909C-58243E462BEA}" srcOrd="0" destOrd="0" parTransId="{83E4A035-C891-4A5B-9311-9A62FF7D645E}" sibTransId="{E63BBDAA-3B5E-4457-81F5-5C315A3F2C21}"/>
    <dgm:cxn modelId="{A3D5DE59-83F0-4708-A400-187C07E0BF18}" type="presOf" srcId="{370712F4-D747-44AC-9B45-599F7EE59D00}" destId="{3E7A31ED-B48E-4C77-B6CC-05F4798215ED}" srcOrd="0" destOrd="0" presId="urn:microsoft.com/office/officeart/2005/8/layout/chevron2"/>
    <dgm:cxn modelId="{1AA4AE3C-A283-4FBB-87D4-BA6FE14E24FC}" type="presParOf" srcId="{DFF995AC-C9F1-4E6D-BF2C-24544A9C0C2D}" destId="{5B987E96-75A3-4DF0-99CB-EB1D473F88CC}" srcOrd="0" destOrd="0" presId="urn:microsoft.com/office/officeart/2005/8/layout/chevron2"/>
    <dgm:cxn modelId="{CACB4FD2-3E09-4677-B7E9-53C10DE079E7}" type="presParOf" srcId="{5B987E96-75A3-4DF0-99CB-EB1D473F88CC}" destId="{187D6F66-2587-43A0-A5F8-24DDAFC4479D}" srcOrd="0" destOrd="0" presId="urn:microsoft.com/office/officeart/2005/8/layout/chevron2"/>
    <dgm:cxn modelId="{C6466486-8C5A-40D7-BF4A-2BECF72B5F72}" type="presParOf" srcId="{5B987E96-75A3-4DF0-99CB-EB1D473F88CC}" destId="{5B3D0744-BEE1-466E-AF7A-99BAE09CCF72}" srcOrd="1" destOrd="0" presId="urn:microsoft.com/office/officeart/2005/8/layout/chevron2"/>
    <dgm:cxn modelId="{209285DB-7DAB-4A3B-ACD3-5CA3E2E89D13}" type="presParOf" srcId="{DFF995AC-C9F1-4E6D-BF2C-24544A9C0C2D}" destId="{C2DAB074-1CA3-4EE1-8EEE-EB50118FDD32}" srcOrd="1" destOrd="0" presId="urn:microsoft.com/office/officeart/2005/8/layout/chevron2"/>
    <dgm:cxn modelId="{EF81DD33-6F26-40ED-9731-664B524E663C}" type="presParOf" srcId="{DFF995AC-C9F1-4E6D-BF2C-24544A9C0C2D}" destId="{7B907FFD-6C94-4779-8665-7608F40D7C2D}" srcOrd="2" destOrd="0" presId="urn:microsoft.com/office/officeart/2005/8/layout/chevron2"/>
    <dgm:cxn modelId="{A9A035B2-6944-4E28-A3E6-43821037321B}" type="presParOf" srcId="{7B907FFD-6C94-4779-8665-7608F40D7C2D}" destId="{44206EE6-79CA-4827-9164-1BD4EEF81E85}" srcOrd="0" destOrd="0" presId="urn:microsoft.com/office/officeart/2005/8/layout/chevron2"/>
    <dgm:cxn modelId="{F5CA475F-8984-428F-B8AA-12759A9D916C}" type="presParOf" srcId="{7B907FFD-6C94-4779-8665-7608F40D7C2D}" destId="{B0C716E2-8058-4B41-BC7E-2FEE00567AFD}" srcOrd="1" destOrd="0" presId="urn:microsoft.com/office/officeart/2005/8/layout/chevron2"/>
    <dgm:cxn modelId="{13DBDC90-6B08-4C16-A21A-ACD345957DF3}" type="presParOf" srcId="{DFF995AC-C9F1-4E6D-BF2C-24544A9C0C2D}" destId="{C0F07228-7DD2-4C8D-B4B6-C68CCFF408B9}" srcOrd="3" destOrd="0" presId="urn:microsoft.com/office/officeart/2005/8/layout/chevron2"/>
    <dgm:cxn modelId="{6B5C541C-4735-4E22-B718-E4988102485F}" type="presParOf" srcId="{DFF995AC-C9F1-4E6D-BF2C-24544A9C0C2D}" destId="{95ADA639-84A5-47BC-984D-11898AE729DC}" srcOrd="4" destOrd="0" presId="urn:microsoft.com/office/officeart/2005/8/layout/chevron2"/>
    <dgm:cxn modelId="{BBE6222D-E181-441B-9EFE-B15311C7BFF5}" type="presParOf" srcId="{95ADA639-84A5-47BC-984D-11898AE729DC}" destId="{40DA3A44-7079-4D76-A947-5A03EC4AD4C1}" srcOrd="0" destOrd="0" presId="urn:microsoft.com/office/officeart/2005/8/layout/chevron2"/>
    <dgm:cxn modelId="{BC4F611E-6E6E-4CE5-AF86-34E478FBD05A}" type="presParOf" srcId="{95ADA639-84A5-47BC-984D-11898AE729DC}" destId="{13BE5DAE-64FB-42EB-AA2B-1B40D90B9AF7}" srcOrd="1" destOrd="0" presId="urn:microsoft.com/office/officeart/2005/8/layout/chevron2"/>
    <dgm:cxn modelId="{72389424-3F5D-44D5-A960-5CED3AA8BB26}" type="presParOf" srcId="{DFF995AC-C9F1-4E6D-BF2C-24544A9C0C2D}" destId="{8CB66242-FF6B-495E-BDCD-529E60BB2EA0}" srcOrd="5" destOrd="0" presId="urn:microsoft.com/office/officeart/2005/8/layout/chevron2"/>
    <dgm:cxn modelId="{6F6AE218-E0E3-4B25-AABE-63A7E08A225A}" type="presParOf" srcId="{DFF995AC-C9F1-4E6D-BF2C-24544A9C0C2D}" destId="{92577297-F71D-4649-8EB3-A6AEA79BEDA6}" srcOrd="6" destOrd="0" presId="urn:microsoft.com/office/officeart/2005/8/layout/chevron2"/>
    <dgm:cxn modelId="{1E0AB883-CF9D-423A-8B87-7F3573EA7673}" type="presParOf" srcId="{92577297-F71D-4649-8EB3-A6AEA79BEDA6}" destId="{3E7A31ED-B48E-4C77-B6CC-05F4798215ED}" srcOrd="0" destOrd="0" presId="urn:microsoft.com/office/officeart/2005/8/layout/chevron2"/>
    <dgm:cxn modelId="{1CBA8CE2-C595-4EF6-A3A9-2B2098B2B17E}" type="presParOf" srcId="{92577297-F71D-4649-8EB3-A6AEA79BEDA6}" destId="{1FA62293-5939-4266-B403-72CE709C3FF4}" srcOrd="1" destOrd="0" presId="urn:microsoft.com/office/officeart/2005/8/layout/chevron2"/>
    <dgm:cxn modelId="{BE4E8133-04CB-45B3-A37A-EEB446139FCC}" type="presParOf" srcId="{DFF995AC-C9F1-4E6D-BF2C-24544A9C0C2D}" destId="{95CFF1C1-4B4A-455A-8AAE-5B71A06B57D9}" srcOrd="7" destOrd="0" presId="urn:microsoft.com/office/officeart/2005/8/layout/chevron2"/>
    <dgm:cxn modelId="{3A4BAD7A-A8E5-4E5D-BEAB-3AFC9C95D9CB}" type="presParOf" srcId="{DFF995AC-C9F1-4E6D-BF2C-24544A9C0C2D}" destId="{EE1A9EF2-1020-4706-9FBB-A4DAEC0CDAFF}" srcOrd="8" destOrd="0" presId="urn:microsoft.com/office/officeart/2005/8/layout/chevron2"/>
    <dgm:cxn modelId="{63558305-E179-46D5-92E4-C8C37AF7956F}" type="presParOf" srcId="{EE1A9EF2-1020-4706-9FBB-A4DAEC0CDAFF}" destId="{2C50D204-E3D2-4FD9-8A60-8F6B5A447D2D}" srcOrd="0" destOrd="0" presId="urn:microsoft.com/office/officeart/2005/8/layout/chevron2"/>
    <dgm:cxn modelId="{6CE9B6D3-68D0-4CC1-83E7-EA69AB70C67A}" type="presParOf" srcId="{EE1A9EF2-1020-4706-9FBB-A4DAEC0CDAFF}" destId="{94E203BE-A7D0-4EBA-8033-EB64545CCF50}" srcOrd="1" destOrd="0" presId="urn:microsoft.com/office/officeart/2005/8/layout/chevron2"/>
    <dgm:cxn modelId="{AD76FCB3-91BC-45EE-A261-18192A79C8C4}" type="presParOf" srcId="{DFF995AC-C9F1-4E6D-BF2C-24544A9C0C2D}" destId="{CF060A12-E05C-4C46-9103-BDC266015E7D}" srcOrd="9" destOrd="0" presId="urn:microsoft.com/office/officeart/2005/8/layout/chevron2"/>
    <dgm:cxn modelId="{B6CD206C-A989-4DEA-ADFC-811765C2AD7B}" type="presParOf" srcId="{DFF995AC-C9F1-4E6D-BF2C-24544A9C0C2D}" destId="{CFB4D695-B8D0-4CF3-A2E5-68B91C75C1B7}" srcOrd="10" destOrd="0" presId="urn:microsoft.com/office/officeart/2005/8/layout/chevron2"/>
    <dgm:cxn modelId="{0E74BDBE-6166-495E-ADD5-C0F5D2E85FE7}" type="presParOf" srcId="{CFB4D695-B8D0-4CF3-A2E5-68B91C75C1B7}" destId="{583DE2DC-ACCC-4A8A-9F2E-06DB2DE91542}" srcOrd="0" destOrd="0" presId="urn:microsoft.com/office/officeart/2005/8/layout/chevron2"/>
    <dgm:cxn modelId="{A19F0416-52C5-4CCB-B94D-35F64616CB5B}" type="presParOf" srcId="{CFB4D695-B8D0-4CF3-A2E5-68B91C75C1B7}" destId="{1F71CAC0-B210-4304-8265-3AA8898C13B8}" srcOrd="1" destOrd="0" presId="urn:microsoft.com/office/officeart/2005/8/layout/chevron2"/>
    <dgm:cxn modelId="{5A538F86-68D7-42B0-8CBA-AE46339CC2F2}" type="presParOf" srcId="{DFF995AC-C9F1-4E6D-BF2C-24544A9C0C2D}" destId="{AF67C912-B16E-4A3E-8B87-5D465DD1F22D}" srcOrd="11" destOrd="0" presId="urn:microsoft.com/office/officeart/2005/8/layout/chevron2"/>
    <dgm:cxn modelId="{E40146D7-4EB1-44CE-8D54-3AB9039F0DA5}" type="presParOf" srcId="{DFF995AC-C9F1-4E6D-BF2C-24544A9C0C2D}" destId="{7032044A-3572-480B-BA3A-DD92A1D4A635}" srcOrd="12" destOrd="0" presId="urn:microsoft.com/office/officeart/2005/8/layout/chevron2"/>
    <dgm:cxn modelId="{D18D68F3-8B6E-42CD-855F-0C1963709265}" type="presParOf" srcId="{7032044A-3572-480B-BA3A-DD92A1D4A635}" destId="{E95A60DF-BF4E-4D8E-AEF0-9057F91CEFBD}" srcOrd="0" destOrd="0" presId="urn:microsoft.com/office/officeart/2005/8/layout/chevron2"/>
    <dgm:cxn modelId="{B0C88CE3-30A7-4B01-8C2D-24D2D971CF55}" type="presParOf" srcId="{7032044A-3572-480B-BA3A-DD92A1D4A635}" destId="{7F4E411F-D9C8-4213-B648-1C2B68A6A84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7D151-96BD-433F-87ED-3F6CC561F387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67E4B-884F-475F-A0EE-9EADE5B44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61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904E2B-051F-4F77-995C-59979881A773}" type="slidenum">
              <a:rPr lang="en-US"/>
              <a:pPr/>
              <a:t>7</a:t>
            </a:fld>
            <a:endParaRPr lang="en-US"/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904E2B-051F-4F77-995C-59979881A773}" type="slidenum">
              <a:rPr lang="en-US"/>
              <a:pPr/>
              <a:t>8</a:t>
            </a:fld>
            <a:endParaRPr lang="en-US"/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C5EFCB-2021-47CC-BE23-C287DC8FCD2C}" type="slidenum">
              <a:rPr lang="en-US"/>
              <a:pPr/>
              <a:t>27</a:t>
            </a:fld>
            <a:endParaRPr lang="en-U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</a:t>
            </a:r>
          </a:p>
          <a:p>
            <a:r>
              <a:rPr lang="en-US" dirty="0"/>
              <a:t>hides icky details from the raw </a:t>
            </a:r>
            <a:r>
              <a:rPr lang="en-US" dirty="0" err="1"/>
              <a:t>XMLHttpRequest</a:t>
            </a:r>
            <a:r>
              <a:rPr lang="en-US" dirty="0"/>
              <a:t>; works well in all browsers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67E4B-884F-475F-A0EE-9EADE5B44B0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589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67E4B-884F-475F-A0EE-9EADE5B44B0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589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user's (and developer's) benefit, show an error message if a request fails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67E4B-884F-475F-A0EE-9EADE5B44B0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888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http://www.tizag.com/ajaxTutorial/index.php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67E4B-884F-475F-A0EE-9EADE5B44B0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804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9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10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3AB6E35-C31D-4F0D-8A88-BF56E0E39A48}" type="datetime1">
              <a:rPr lang="en-US" smtClean="0"/>
              <a:t>2/18/2025</a:t>
            </a:fld>
            <a:endParaRPr lang="en-US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CS380</a:t>
            </a:r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1499DF-29E7-4910-92D7-9B5A330D705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CEE28B0-449E-4DC3-8F6E-28D8F1F4AF64}" type="datetime1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CS380</a:t>
            </a: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1499DF-29E7-4910-92D7-9B5A330D70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A3C14B3-258F-44F2-93FF-31CE59DA3818}" type="datetime1">
              <a:rPr lang="en-US" smtClean="0"/>
              <a:t>2/18/2025</a:t>
            </a:fld>
            <a:endParaRPr 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D1499DF-29E7-4910-92D7-9B5A330D705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CS380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9909218-045D-4D8A-A3C9-3D45FD46D929}" type="datetime1">
              <a:rPr lang="en-US" smtClean="0"/>
              <a:t>2/18/2025</a:t>
            </a:fld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fld id="{CD1499DF-29E7-4910-92D7-9B5A330D705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r>
              <a:rPr lang="en-US"/>
              <a:t>CS380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C5410E4-E01B-4EEF-84FA-CD187945A025}" type="datetime1">
              <a:rPr lang="en-US" smtClean="0"/>
              <a:t>2/18/2025</a:t>
            </a:fld>
            <a:endParaRPr 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fld id="{CD1499DF-29E7-4910-92D7-9B5A330D705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r>
              <a:rPr lang="en-US"/>
              <a:t>CS380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E009391-8593-45A0-A495-F96AFE7C3782}" type="datetime1">
              <a:rPr lang="en-US" smtClean="0"/>
              <a:t>2/18/2025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CS380</a:t>
            </a:r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1499DF-29E7-4910-92D7-9B5A330D70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49EC2-6671-47D4-A3FB-22156D09FE51}" type="datetime1">
              <a:rPr lang="en-US" smtClean="0"/>
              <a:t>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CS380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1499DF-29E7-4910-92D7-9B5A330D70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F57BBA-9086-42C0-BD25-6B24D7872C5B}" type="datetime1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CS380</a:t>
            </a:r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1499DF-29E7-4910-92D7-9B5A330D70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8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9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10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fld id="{BFFBDF7F-9165-43A3-9108-674436AC2248}" type="datetime1">
              <a:rPr lang="en-US" smtClean="0"/>
              <a:t>2/18/2025</a:t>
            </a:fld>
            <a:endParaRPr 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fld id="{CD1499DF-29E7-4910-92D7-9B5A330D705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r>
              <a:rPr lang="en-US"/>
              <a:t>CS380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B47C76-8AE5-41C7-8E50-4D63E05E4170}" type="datetime1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CS380</a:t>
            </a: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1499DF-29E7-4910-92D7-9B5A330D70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fld id="{F712E3D6-1385-4F94-8B84-E420B4645395}" type="datetime1">
              <a:rPr lang="en-US" smtClean="0"/>
              <a:t>2/18/2025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CS380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fld id="{CD1499DF-29E7-4910-92D7-9B5A330D705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rgbClr val="675E4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5440" y="1516736"/>
            <a:ext cx="347091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3E7E7E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462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1998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  <a:cs typeface="+mn-cs"/>
              </a:defRPr>
            </a:lvl1pPr>
          </a:lstStyle>
          <a:p>
            <a:fld id="{2AEB0F76-4C87-49EA-98ED-EDC4A01271C4}" type="datetime1">
              <a:rPr lang="en-US" smtClean="0"/>
              <a:t>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  <a:cs typeface="+mn-cs"/>
              </a:defRPr>
            </a:lvl1pPr>
          </a:lstStyle>
          <a:p>
            <a:r>
              <a:rPr lang="en-US"/>
              <a:t>CS380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  <a:cs typeface="+mn-cs"/>
              </a:defRPr>
            </a:lvl1pPr>
          </a:lstStyle>
          <a:p>
            <a:fld id="{CD1499DF-29E7-4910-92D7-9B5A330D705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1" fontAlgn="base" hangingPunct="1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1" fontAlgn="base" hangingPunct="1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fontAlgn="base" hangingPunct="1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fontAlgn="base" hangingPunct="1">
        <a:spcBef>
          <a:spcPts val="400"/>
        </a:spcBef>
        <a:spcAft>
          <a:spcPct val="0"/>
        </a:spcAft>
        <a:buClr>
          <a:srgbClr val="A04DA3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fontAlgn="base" hangingPunct="1">
        <a:spcBef>
          <a:spcPts val="400"/>
        </a:spcBef>
        <a:spcAft>
          <a:spcPct val="0"/>
        </a:spcAft>
        <a:buClr>
          <a:srgbClr val="C4652D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://prototypejs.org/api/ajax/options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ajax/ajax_examples.htm" TargetMode="External"/><Relationship Id="rId2" Type="http://schemas.openxmlformats.org/officeDocument/2006/relationships/hyperlink" Target="https://www.w3schools.com/xml/ajax_intro.as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36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lang="en-IN" sz="3600" dirty="0">
                <a:latin typeface="Times New Roman"/>
                <a:cs typeface="Times New Roman"/>
              </a:rPr>
              <a:t>synchronous</a:t>
            </a:r>
            <a:r>
              <a:rPr lang="en-IN" sz="3600" spc="-90" dirty="0">
                <a:latin typeface="Times New Roman"/>
                <a:cs typeface="Times New Roman"/>
              </a:rPr>
              <a:t> </a:t>
            </a:r>
            <a:r>
              <a:rPr lang="en-IN" sz="3600" dirty="0">
                <a:solidFill>
                  <a:srgbClr val="FF0000"/>
                </a:solidFill>
                <a:latin typeface="Times New Roman"/>
                <a:cs typeface="Times New Roman"/>
              </a:rPr>
              <a:t>J</a:t>
            </a:r>
            <a:r>
              <a:rPr lang="en-IN" sz="3600" dirty="0">
                <a:latin typeface="Times New Roman"/>
                <a:cs typeface="Times New Roman"/>
              </a:rPr>
              <a:t>avaScript</a:t>
            </a:r>
            <a:r>
              <a:rPr lang="en-IN" sz="3600" spc="-50" dirty="0">
                <a:latin typeface="Times New Roman"/>
                <a:cs typeface="Times New Roman"/>
              </a:rPr>
              <a:t> </a:t>
            </a:r>
            <a:r>
              <a:rPr lang="en-IN" sz="3600" spc="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lang="en-IN" sz="3600" spc="5" dirty="0">
                <a:latin typeface="Times New Roman"/>
                <a:cs typeface="Times New Roman"/>
              </a:rPr>
              <a:t>nd </a:t>
            </a:r>
            <a:r>
              <a:rPr lang="en-IN" sz="3600" spc="-1085" dirty="0">
                <a:latin typeface="Times New Roman"/>
                <a:cs typeface="Times New Roman"/>
              </a:rPr>
              <a:t> </a:t>
            </a:r>
            <a:r>
              <a:rPr lang="en-IN" sz="3600" spc="-5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lang="en-IN" sz="3600" spc="-5" dirty="0">
                <a:latin typeface="Times New Roman"/>
                <a:cs typeface="Times New Roman"/>
              </a:rPr>
              <a:t>ML</a:t>
            </a:r>
            <a:endParaRPr lang="en-IN" sz="3600" dirty="0">
              <a:latin typeface="Times New Roman"/>
              <a:cs typeface="Times New Roman"/>
            </a:endParaRPr>
          </a:p>
          <a:p>
            <a:endParaRPr lang="en-US" sz="3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AJAX</a:t>
            </a:r>
          </a:p>
        </p:txBody>
      </p:sp>
    </p:spTree>
    <p:extLst>
      <p:ext uri="{BB962C8B-B14F-4D97-AF65-F5344CB8AC3E}">
        <p14:creationId xmlns:p14="http://schemas.microsoft.com/office/powerpoint/2010/main" val="1650313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64229" y="1386586"/>
            <a:ext cx="25704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none" dirty="0">
                <a:solidFill>
                  <a:srgbClr val="000000"/>
                </a:solidFill>
              </a:rPr>
              <a:t>Back</a:t>
            </a:r>
            <a:r>
              <a:rPr sz="4400" u="none" spc="-65" dirty="0">
                <a:solidFill>
                  <a:srgbClr val="000000"/>
                </a:solidFill>
              </a:rPr>
              <a:t> </a:t>
            </a:r>
            <a:r>
              <a:rPr sz="4400" u="none" dirty="0">
                <a:solidFill>
                  <a:srgbClr val="000000"/>
                </a:solidFill>
              </a:rPr>
              <a:t>then</a:t>
            </a:r>
            <a:r>
              <a:rPr sz="4400" u="none" spc="-40" dirty="0">
                <a:solidFill>
                  <a:srgbClr val="000000"/>
                </a:solidFill>
              </a:rPr>
              <a:t> </a:t>
            </a:r>
            <a:r>
              <a:rPr sz="4400" u="none" dirty="0">
                <a:solidFill>
                  <a:srgbClr val="000000"/>
                </a:solidFill>
              </a:rPr>
              <a:t>:</a:t>
            </a:r>
            <a:endParaRPr sz="4400"/>
          </a:p>
        </p:txBody>
      </p:sp>
      <p:grpSp>
        <p:nvGrpSpPr>
          <p:cNvPr id="9" name="object 9"/>
          <p:cNvGrpSpPr/>
          <p:nvPr/>
        </p:nvGrpSpPr>
        <p:grpSpPr>
          <a:xfrm>
            <a:off x="1217955" y="2362200"/>
            <a:ext cx="6792595" cy="3886200"/>
            <a:chOff x="1217955" y="2362200"/>
            <a:chExt cx="6792595" cy="388620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0" y="2362200"/>
              <a:ext cx="6638925" cy="38862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217955" y="4614926"/>
              <a:ext cx="2287270" cy="497205"/>
            </a:xfrm>
            <a:custGeom>
              <a:avLst/>
              <a:gdLst/>
              <a:ahLst/>
              <a:cxnLst/>
              <a:rect l="l" t="t" r="r" b="b"/>
              <a:pathLst>
                <a:path w="2287270" h="497204">
                  <a:moveTo>
                    <a:pt x="2250532" y="34089"/>
                  </a:moveTo>
                  <a:lnTo>
                    <a:pt x="0" y="484250"/>
                  </a:lnTo>
                  <a:lnTo>
                    <a:pt x="2489" y="496697"/>
                  </a:lnTo>
                  <a:lnTo>
                    <a:pt x="2253234" y="46502"/>
                  </a:lnTo>
                  <a:lnTo>
                    <a:pt x="2262566" y="38229"/>
                  </a:lnTo>
                  <a:lnTo>
                    <a:pt x="2250532" y="34089"/>
                  </a:lnTo>
                  <a:close/>
                </a:path>
                <a:path w="2287270" h="497204">
                  <a:moveTo>
                    <a:pt x="2276130" y="29463"/>
                  </a:moveTo>
                  <a:lnTo>
                    <a:pt x="2273655" y="29463"/>
                  </a:lnTo>
                  <a:lnTo>
                    <a:pt x="2276195" y="41910"/>
                  </a:lnTo>
                  <a:lnTo>
                    <a:pt x="2253234" y="46502"/>
                  </a:lnTo>
                  <a:lnTo>
                    <a:pt x="2204694" y="89535"/>
                  </a:lnTo>
                  <a:lnTo>
                    <a:pt x="2202027" y="91821"/>
                  </a:lnTo>
                  <a:lnTo>
                    <a:pt x="2201773" y="95885"/>
                  </a:lnTo>
                  <a:lnTo>
                    <a:pt x="2204186" y="98425"/>
                  </a:lnTo>
                  <a:lnTo>
                    <a:pt x="2206472" y="101092"/>
                  </a:lnTo>
                  <a:lnTo>
                    <a:pt x="2210536" y="101346"/>
                  </a:lnTo>
                  <a:lnTo>
                    <a:pt x="2213076" y="99060"/>
                  </a:lnTo>
                  <a:lnTo>
                    <a:pt x="2287244" y="33274"/>
                  </a:lnTo>
                  <a:lnTo>
                    <a:pt x="2276130" y="29463"/>
                  </a:lnTo>
                  <a:close/>
                </a:path>
                <a:path w="2287270" h="497204">
                  <a:moveTo>
                    <a:pt x="2262566" y="38229"/>
                  </a:moveTo>
                  <a:lnTo>
                    <a:pt x="2253234" y="46502"/>
                  </a:lnTo>
                  <a:lnTo>
                    <a:pt x="2276195" y="41910"/>
                  </a:lnTo>
                  <a:lnTo>
                    <a:pt x="2276169" y="41782"/>
                  </a:lnTo>
                  <a:lnTo>
                    <a:pt x="2272893" y="41782"/>
                  </a:lnTo>
                  <a:lnTo>
                    <a:pt x="2262566" y="38229"/>
                  </a:lnTo>
                  <a:close/>
                </a:path>
                <a:path w="2287270" h="497204">
                  <a:moveTo>
                    <a:pt x="2270734" y="30987"/>
                  </a:moveTo>
                  <a:lnTo>
                    <a:pt x="2262566" y="38229"/>
                  </a:lnTo>
                  <a:lnTo>
                    <a:pt x="2272893" y="41782"/>
                  </a:lnTo>
                  <a:lnTo>
                    <a:pt x="2270734" y="30987"/>
                  </a:lnTo>
                  <a:close/>
                </a:path>
                <a:path w="2287270" h="497204">
                  <a:moveTo>
                    <a:pt x="2273966" y="30987"/>
                  </a:moveTo>
                  <a:lnTo>
                    <a:pt x="2270734" y="30987"/>
                  </a:lnTo>
                  <a:lnTo>
                    <a:pt x="2272893" y="41782"/>
                  </a:lnTo>
                  <a:lnTo>
                    <a:pt x="2276169" y="41782"/>
                  </a:lnTo>
                  <a:lnTo>
                    <a:pt x="2273966" y="30987"/>
                  </a:lnTo>
                  <a:close/>
                </a:path>
                <a:path w="2287270" h="497204">
                  <a:moveTo>
                    <a:pt x="2273655" y="29463"/>
                  </a:moveTo>
                  <a:lnTo>
                    <a:pt x="2250532" y="34089"/>
                  </a:lnTo>
                  <a:lnTo>
                    <a:pt x="2262566" y="38229"/>
                  </a:lnTo>
                  <a:lnTo>
                    <a:pt x="2270734" y="30987"/>
                  </a:lnTo>
                  <a:lnTo>
                    <a:pt x="2273966" y="30987"/>
                  </a:lnTo>
                  <a:lnTo>
                    <a:pt x="2273655" y="29463"/>
                  </a:lnTo>
                  <a:close/>
                </a:path>
                <a:path w="2287270" h="497204">
                  <a:moveTo>
                    <a:pt x="2190216" y="0"/>
                  </a:moveTo>
                  <a:lnTo>
                    <a:pt x="2186660" y="1778"/>
                  </a:lnTo>
                  <a:lnTo>
                    <a:pt x="2184374" y="8381"/>
                  </a:lnTo>
                  <a:lnTo>
                    <a:pt x="2186152" y="11937"/>
                  </a:lnTo>
                  <a:lnTo>
                    <a:pt x="2250532" y="34089"/>
                  </a:lnTo>
                  <a:lnTo>
                    <a:pt x="2273655" y="29463"/>
                  </a:lnTo>
                  <a:lnTo>
                    <a:pt x="2276130" y="29463"/>
                  </a:lnTo>
                  <a:lnTo>
                    <a:pt x="21902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81000" y="4800600"/>
            <a:ext cx="838200" cy="68580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06680" marR="100330" indent="62230">
              <a:lnSpc>
                <a:spcPct val="100000"/>
              </a:lnSpc>
              <a:spcBef>
                <a:spcPts val="305"/>
              </a:spcBef>
            </a:pPr>
            <a:r>
              <a:rPr sz="1800" dirty="0">
                <a:latin typeface="Times New Roman"/>
                <a:cs typeface="Times New Roman"/>
              </a:rPr>
              <a:t>Click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Search</a:t>
            </a:r>
            <a:endParaRPr sz="1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01852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64228" y="1389597"/>
            <a:ext cx="387477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>
                <a:solidFill>
                  <a:srgbClr val="000000"/>
                </a:solidFill>
              </a:rPr>
              <a:t>And</a:t>
            </a:r>
            <a:r>
              <a:rPr lang="en-IN" spc="-45" dirty="0">
                <a:solidFill>
                  <a:srgbClr val="000000"/>
                </a:solidFill>
              </a:rPr>
              <a:t> </a:t>
            </a:r>
            <a:r>
              <a:rPr lang="en-IN" dirty="0">
                <a:solidFill>
                  <a:srgbClr val="000000"/>
                </a:solidFill>
              </a:rPr>
              <a:t>you</a:t>
            </a:r>
            <a:r>
              <a:rPr lang="en-IN" spc="-30" dirty="0">
                <a:solidFill>
                  <a:srgbClr val="000000"/>
                </a:solidFill>
              </a:rPr>
              <a:t> </a:t>
            </a:r>
            <a:r>
              <a:rPr lang="en-IN" dirty="0">
                <a:solidFill>
                  <a:srgbClr val="000000"/>
                </a:solidFill>
              </a:rPr>
              <a:t>get</a:t>
            </a:r>
            <a:r>
              <a:rPr lang="en-IN" spc="-35" dirty="0">
                <a:solidFill>
                  <a:srgbClr val="000000"/>
                </a:solidFill>
              </a:rPr>
              <a:t> </a:t>
            </a:r>
            <a:r>
              <a:rPr lang="en-IN" dirty="0">
                <a:solidFill>
                  <a:srgbClr val="000000"/>
                </a:solidFill>
              </a:rPr>
              <a:t>this</a:t>
            </a:r>
            <a:r>
              <a:rPr lang="en-IN" spc="-15" dirty="0">
                <a:solidFill>
                  <a:srgbClr val="000000"/>
                </a:solidFill>
              </a:rPr>
              <a:t> </a:t>
            </a:r>
            <a:r>
              <a:rPr lang="en-IN" dirty="0">
                <a:solidFill>
                  <a:srgbClr val="000000"/>
                </a:solidFill>
              </a:rPr>
              <a:t>:</a:t>
            </a:r>
            <a:endParaRPr sz="4400" dirty="0"/>
          </a:p>
        </p:txBody>
      </p:sp>
      <p:pic>
        <p:nvPicPr>
          <p:cNvPr id="7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2133600"/>
            <a:ext cx="66294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77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web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4724400"/>
            <a:ext cx="8153400" cy="1524000"/>
          </a:xfrm>
        </p:spPr>
        <p:txBody>
          <a:bodyPr/>
          <a:lstStyle/>
          <a:p>
            <a:r>
              <a:rPr lang="en-US" dirty="0"/>
              <a:t>synchronous: user must wait while new pages load</a:t>
            </a:r>
          </a:p>
          <a:p>
            <a:pPr lvl="1"/>
            <a:r>
              <a:rPr lang="en-US" dirty="0"/>
              <a:t>the typical communication pattern used in web pages (click, wait, refresh)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34068"/>
            <a:ext cx="7543800" cy="3056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8398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64228" y="1389597"/>
            <a:ext cx="387477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>
                <a:solidFill>
                  <a:srgbClr val="000000"/>
                </a:solidFill>
              </a:rPr>
              <a:t>These</a:t>
            </a:r>
            <a:r>
              <a:rPr lang="en-IN" spc="-65" dirty="0">
                <a:solidFill>
                  <a:srgbClr val="000000"/>
                </a:solidFill>
              </a:rPr>
              <a:t> </a:t>
            </a:r>
            <a:r>
              <a:rPr lang="en-IN" dirty="0">
                <a:solidFill>
                  <a:srgbClr val="000000"/>
                </a:solidFill>
              </a:rPr>
              <a:t>days</a:t>
            </a:r>
            <a:r>
              <a:rPr lang="en-IN" spc="-60" dirty="0">
                <a:solidFill>
                  <a:srgbClr val="000000"/>
                </a:solidFill>
              </a:rPr>
              <a:t> </a:t>
            </a:r>
            <a:r>
              <a:rPr lang="en-IN" dirty="0">
                <a:solidFill>
                  <a:srgbClr val="000000"/>
                </a:solidFill>
              </a:rPr>
              <a:t>::</a:t>
            </a:r>
            <a:endParaRPr sz="4400" dirty="0"/>
          </a:p>
        </p:txBody>
      </p:sp>
      <p:grpSp>
        <p:nvGrpSpPr>
          <p:cNvPr id="4" name="object 16"/>
          <p:cNvGrpSpPr/>
          <p:nvPr/>
        </p:nvGrpSpPr>
        <p:grpSpPr>
          <a:xfrm>
            <a:off x="1371600" y="685787"/>
            <a:ext cx="6929755" cy="5487035"/>
            <a:chOff x="1371600" y="685787"/>
            <a:chExt cx="6929755" cy="5487035"/>
          </a:xfrm>
        </p:grpSpPr>
        <p:pic>
          <p:nvPicPr>
            <p:cNvPr id="5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0" y="2514599"/>
              <a:ext cx="6591300" cy="3657600"/>
            </a:xfrm>
            <a:prstGeom prst="rect">
              <a:avLst/>
            </a:prstGeom>
          </p:spPr>
        </p:pic>
        <p:sp>
          <p:nvSpPr>
            <p:cNvPr id="6" name="object 18"/>
            <p:cNvSpPr/>
            <p:nvPr/>
          </p:nvSpPr>
          <p:spPr>
            <a:xfrm>
              <a:off x="7080425" y="1996224"/>
              <a:ext cx="628015" cy="487045"/>
            </a:xfrm>
            <a:custGeom>
              <a:avLst/>
              <a:gdLst/>
              <a:ahLst/>
              <a:cxnLst/>
              <a:rect l="l" t="t" r="r" b="b"/>
              <a:pathLst>
                <a:path w="628015" h="487044">
                  <a:moveTo>
                    <a:pt x="627683" y="0"/>
                  </a:moveTo>
                  <a:lnTo>
                    <a:pt x="0" y="0"/>
                  </a:lnTo>
                  <a:lnTo>
                    <a:pt x="0" y="486535"/>
                  </a:lnTo>
                  <a:lnTo>
                    <a:pt x="627683" y="486535"/>
                  </a:lnTo>
                  <a:lnTo>
                    <a:pt x="627683" y="0"/>
                  </a:lnTo>
                  <a:close/>
                </a:path>
              </a:pathLst>
            </a:custGeom>
            <a:solidFill>
              <a:srgbClr val="8BC5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9"/>
            <p:cNvSpPr/>
            <p:nvPr/>
          </p:nvSpPr>
          <p:spPr>
            <a:xfrm>
              <a:off x="6963133" y="950031"/>
              <a:ext cx="887730" cy="588645"/>
            </a:xfrm>
            <a:custGeom>
              <a:avLst/>
              <a:gdLst/>
              <a:ahLst/>
              <a:cxnLst/>
              <a:rect l="l" t="t" r="r" b="b"/>
              <a:pathLst>
                <a:path w="887729" h="588644">
                  <a:moveTo>
                    <a:pt x="526235" y="0"/>
                  </a:moveTo>
                  <a:lnTo>
                    <a:pt x="440642" y="6327"/>
                  </a:lnTo>
                  <a:lnTo>
                    <a:pt x="393088" y="12655"/>
                  </a:lnTo>
                  <a:lnTo>
                    <a:pt x="348710" y="22273"/>
                  </a:lnTo>
                  <a:lnTo>
                    <a:pt x="266281" y="47710"/>
                  </a:lnTo>
                  <a:lnTo>
                    <a:pt x="190204" y="85803"/>
                  </a:lnTo>
                  <a:lnTo>
                    <a:pt x="155329" y="104913"/>
                  </a:lnTo>
                  <a:lnTo>
                    <a:pt x="98272" y="152623"/>
                  </a:lnTo>
                  <a:lnTo>
                    <a:pt x="50717" y="203498"/>
                  </a:lnTo>
                  <a:lnTo>
                    <a:pt x="19019" y="257536"/>
                  </a:lnTo>
                  <a:lnTo>
                    <a:pt x="3163" y="314789"/>
                  </a:lnTo>
                  <a:lnTo>
                    <a:pt x="0" y="346592"/>
                  </a:lnTo>
                  <a:lnTo>
                    <a:pt x="3163" y="375206"/>
                  </a:lnTo>
                  <a:lnTo>
                    <a:pt x="22182" y="429270"/>
                  </a:lnTo>
                  <a:lnTo>
                    <a:pt x="57057" y="476968"/>
                  </a:lnTo>
                  <a:lnTo>
                    <a:pt x="107775" y="518313"/>
                  </a:lnTo>
                  <a:lnTo>
                    <a:pt x="168009" y="550116"/>
                  </a:lnTo>
                  <a:lnTo>
                    <a:pt x="240922" y="572377"/>
                  </a:lnTo>
                  <a:lnTo>
                    <a:pt x="278960" y="578730"/>
                  </a:lnTo>
                  <a:lnTo>
                    <a:pt x="320175" y="585095"/>
                  </a:lnTo>
                  <a:lnTo>
                    <a:pt x="361389" y="588272"/>
                  </a:lnTo>
                  <a:lnTo>
                    <a:pt x="450158" y="581906"/>
                  </a:lnTo>
                  <a:lnTo>
                    <a:pt x="494536" y="575553"/>
                  </a:lnTo>
                  <a:lnTo>
                    <a:pt x="538915" y="566011"/>
                  </a:lnTo>
                  <a:lnTo>
                    <a:pt x="583305" y="553292"/>
                  </a:lnTo>
                  <a:lnTo>
                    <a:pt x="624507" y="540574"/>
                  </a:lnTo>
                  <a:lnTo>
                    <a:pt x="662558" y="521489"/>
                  </a:lnTo>
                  <a:lnTo>
                    <a:pt x="732295" y="483333"/>
                  </a:lnTo>
                  <a:lnTo>
                    <a:pt x="763994" y="461073"/>
                  </a:lnTo>
                  <a:lnTo>
                    <a:pt x="792529" y="435635"/>
                  </a:lnTo>
                  <a:lnTo>
                    <a:pt x="836907" y="384748"/>
                  </a:lnTo>
                  <a:lnTo>
                    <a:pt x="868618" y="330697"/>
                  </a:lnTo>
                  <a:lnTo>
                    <a:pt x="884461" y="273457"/>
                  </a:lnTo>
                  <a:lnTo>
                    <a:pt x="887638" y="241590"/>
                  </a:lnTo>
                  <a:lnTo>
                    <a:pt x="884461" y="212989"/>
                  </a:lnTo>
                  <a:lnTo>
                    <a:pt x="865442" y="158951"/>
                  </a:lnTo>
                  <a:lnTo>
                    <a:pt x="830567" y="111240"/>
                  </a:lnTo>
                  <a:lnTo>
                    <a:pt x="779850" y="69984"/>
                  </a:lnTo>
                  <a:lnTo>
                    <a:pt x="719616" y="38092"/>
                  </a:lnTo>
                  <a:lnTo>
                    <a:pt x="649879" y="15819"/>
                  </a:lnTo>
                  <a:lnTo>
                    <a:pt x="608664" y="9491"/>
                  </a:lnTo>
                  <a:lnTo>
                    <a:pt x="570613" y="3163"/>
                  </a:lnTo>
                  <a:lnTo>
                    <a:pt x="5262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1844" y="1083545"/>
              <a:ext cx="148989" cy="190817"/>
            </a:xfrm>
            <a:prstGeom prst="rect">
              <a:avLst/>
            </a:prstGeom>
          </p:spPr>
        </p:pic>
        <p:pic>
          <p:nvPicPr>
            <p:cNvPr id="1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8856" y="1070890"/>
              <a:ext cx="117291" cy="149409"/>
            </a:xfrm>
            <a:prstGeom prst="rect">
              <a:avLst/>
            </a:prstGeom>
          </p:spPr>
        </p:pic>
        <p:sp>
          <p:nvSpPr>
            <p:cNvPr id="12" name="object 22"/>
            <p:cNvSpPr/>
            <p:nvPr/>
          </p:nvSpPr>
          <p:spPr>
            <a:xfrm>
              <a:off x="6782422" y="1010399"/>
              <a:ext cx="1274445" cy="1237615"/>
            </a:xfrm>
            <a:custGeom>
              <a:avLst/>
              <a:gdLst/>
              <a:ahLst/>
              <a:cxnLst/>
              <a:rect l="l" t="t" r="r" b="b"/>
              <a:pathLst>
                <a:path w="1274445" h="1237614">
                  <a:moveTo>
                    <a:pt x="1274406" y="982649"/>
                  </a:moveTo>
                  <a:lnTo>
                    <a:pt x="1261706" y="979462"/>
                  </a:lnTo>
                  <a:lnTo>
                    <a:pt x="1236357" y="969924"/>
                  </a:lnTo>
                  <a:lnTo>
                    <a:pt x="1220508" y="966749"/>
                  </a:lnTo>
                  <a:lnTo>
                    <a:pt x="1198308" y="963574"/>
                  </a:lnTo>
                  <a:lnTo>
                    <a:pt x="1176121" y="963574"/>
                  </a:lnTo>
                  <a:lnTo>
                    <a:pt x="1153934" y="966749"/>
                  </a:lnTo>
                  <a:lnTo>
                    <a:pt x="1144422" y="925398"/>
                  </a:lnTo>
                  <a:lnTo>
                    <a:pt x="1128572" y="884072"/>
                  </a:lnTo>
                  <a:lnTo>
                    <a:pt x="1107859" y="839546"/>
                  </a:lnTo>
                  <a:lnTo>
                    <a:pt x="1106385" y="836371"/>
                  </a:lnTo>
                  <a:lnTo>
                    <a:pt x="1077849" y="791845"/>
                  </a:lnTo>
                  <a:lnTo>
                    <a:pt x="1039812" y="753681"/>
                  </a:lnTo>
                  <a:lnTo>
                    <a:pt x="995426" y="731431"/>
                  </a:lnTo>
                  <a:lnTo>
                    <a:pt x="970064" y="728243"/>
                  </a:lnTo>
                  <a:lnTo>
                    <a:pt x="960551" y="728243"/>
                  </a:lnTo>
                  <a:lnTo>
                    <a:pt x="998588" y="690092"/>
                  </a:lnTo>
                  <a:lnTo>
                    <a:pt x="1020787" y="655104"/>
                  </a:lnTo>
                  <a:lnTo>
                    <a:pt x="1033462" y="616953"/>
                  </a:lnTo>
                  <a:lnTo>
                    <a:pt x="1036637" y="581977"/>
                  </a:lnTo>
                  <a:lnTo>
                    <a:pt x="1033462" y="550176"/>
                  </a:lnTo>
                  <a:lnTo>
                    <a:pt x="1030287" y="524738"/>
                  </a:lnTo>
                  <a:lnTo>
                    <a:pt x="1023950" y="502475"/>
                  </a:lnTo>
                  <a:lnTo>
                    <a:pt x="1033462" y="483387"/>
                  </a:lnTo>
                  <a:lnTo>
                    <a:pt x="1039812" y="467499"/>
                  </a:lnTo>
                  <a:lnTo>
                    <a:pt x="1042974" y="454774"/>
                  </a:lnTo>
                  <a:lnTo>
                    <a:pt x="1042974" y="445236"/>
                  </a:lnTo>
                  <a:lnTo>
                    <a:pt x="1036637" y="432511"/>
                  </a:lnTo>
                  <a:lnTo>
                    <a:pt x="1030287" y="429323"/>
                  </a:lnTo>
                  <a:lnTo>
                    <a:pt x="1001776" y="429323"/>
                  </a:lnTo>
                  <a:lnTo>
                    <a:pt x="985913" y="432511"/>
                  </a:lnTo>
                  <a:lnTo>
                    <a:pt x="966889" y="435686"/>
                  </a:lnTo>
                  <a:lnTo>
                    <a:pt x="938364" y="467499"/>
                  </a:lnTo>
                  <a:lnTo>
                    <a:pt x="925677" y="489750"/>
                  </a:lnTo>
                  <a:lnTo>
                    <a:pt x="922515" y="499287"/>
                  </a:lnTo>
                  <a:lnTo>
                    <a:pt x="922515" y="505650"/>
                  </a:lnTo>
                  <a:lnTo>
                    <a:pt x="925677" y="512013"/>
                  </a:lnTo>
                  <a:lnTo>
                    <a:pt x="928852" y="515188"/>
                  </a:lnTo>
                  <a:lnTo>
                    <a:pt x="938364" y="521550"/>
                  </a:lnTo>
                  <a:lnTo>
                    <a:pt x="963714" y="521550"/>
                  </a:lnTo>
                  <a:lnTo>
                    <a:pt x="976414" y="566064"/>
                  </a:lnTo>
                  <a:lnTo>
                    <a:pt x="979576" y="601040"/>
                  </a:lnTo>
                  <a:lnTo>
                    <a:pt x="976414" y="629678"/>
                  </a:lnTo>
                  <a:lnTo>
                    <a:pt x="966889" y="651929"/>
                  </a:lnTo>
                  <a:lnTo>
                    <a:pt x="954214" y="667829"/>
                  </a:lnTo>
                  <a:lnTo>
                    <a:pt x="935202" y="677367"/>
                  </a:lnTo>
                  <a:lnTo>
                    <a:pt x="932878" y="678040"/>
                  </a:lnTo>
                  <a:lnTo>
                    <a:pt x="932878" y="735203"/>
                  </a:lnTo>
                  <a:lnTo>
                    <a:pt x="830580" y="817283"/>
                  </a:lnTo>
                  <a:lnTo>
                    <a:pt x="845286" y="749401"/>
                  </a:lnTo>
                  <a:lnTo>
                    <a:pt x="884466" y="744156"/>
                  </a:lnTo>
                  <a:lnTo>
                    <a:pt x="922515" y="737793"/>
                  </a:lnTo>
                  <a:lnTo>
                    <a:pt x="932878" y="735203"/>
                  </a:lnTo>
                  <a:lnTo>
                    <a:pt x="932878" y="678040"/>
                  </a:lnTo>
                  <a:lnTo>
                    <a:pt x="913003" y="683729"/>
                  </a:lnTo>
                  <a:lnTo>
                    <a:pt x="890803" y="686917"/>
                  </a:lnTo>
                  <a:lnTo>
                    <a:pt x="868629" y="683729"/>
                  </a:lnTo>
                  <a:lnTo>
                    <a:pt x="859751" y="682625"/>
                  </a:lnTo>
                  <a:lnTo>
                    <a:pt x="885710" y="562889"/>
                  </a:lnTo>
                  <a:lnTo>
                    <a:pt x="909840" y="451586"/>
                  </a:lnTo>
                  <a:lnTo>
                    <a:pt x="897140" y="461124"/>
                  </a:lnTo>
                  <a:lnTo>
                    <a:pt x="868629" y="480212"/>
                  </a:lnTo>
                  <a:lnTo>
                    <a:pt x="821067" y="505650"/>
                  </a:lnTo>
                  <a:lnTo>
                    <a:pt x="754494" y="534263"/>
                  </a:lnTo>
                  <a:lnTo>
                    <a:pt x="716457" y="543801"/>
                  </a:lnTo>
                  <a:lnTo>
                    <a:pt x="672071" y="553351"/>
                  </a:lnTo>
                  <a:lnTo>
                    <a:pt x="624522" y="559714"/>
                  </a:lnTo>
                  <a:lnTo>
                    <a:pt x="570636" y="562889"/>
                  </a:lnTo>
                  <a:lnTo>
                    <a:pt x="513562" y="559714"/>
                  </a:lnTo>
                  <a:lnTo>
                    <a:pt x="453326" y="550176"/>
                  </a:lnTo>
                  <a:lnTo>
                    <a:pt x="389928" y="537451"/>
                  </a:lnTo>
                  <a:lnTo>
                    <a:pt x="323354" y="515188"/>
                  </a:lnTo>
                  <a:lnTo>
                    <a:pt x="317017" y="540626"/>
                  </a:lnTo>
                  <a:lnTo>
                    <a:pt x="314337" y="567461"/>
                  </a:lnTo>
                  <a:lnTo>
                    <a:pt x="196545" y="502475"/>
                  </a:lnTo>
                  <a:lnTo>
                    <a:pt x="110959" y="448411"/>
                  </a:lnTo>
                  <a:lnTo>
                    <a:pt x="82423" y="432511"/>
                  </a:lnTo>
                  <a:lnTo>
                    <a:pt x="69748" y="422973"/>
                  </a:lnTo>
                  <a:lnTo>
                    <a:pt x="66573" y="375272"/>
                  </a:lnTo>
                  <a:lnTo>
                    <a:pt x="63398" y="330758"/>
                  </a:lnTo>
                  <a:lnTo>
                    <a:pt x="63398" y="273507"/>
                  </a:lnTo>
                  <a:lnTo>
                    <a:pt x="72910" y="187680"/>
                  </a:lnTo>
                  <a:lnTo>
                    <a:pt x="85598" y="139979"/>
                  </a:lnTo>
                  <a:lnTo>
                    <a:pt x="107784" y="104914"/>
                  </a:lnTo>
                  <a:lnTo>
                    <a:pt x="123634" y="95427"/>
                  </a:lnTo>
                  <a:lnTo>
                    <a:pt x="133146" y="101752"/>
                  </a:lnTo>
                  <a:lnTo>
                    <a:pt x="152171" y="111366"/>
                  </a:lnTo>
                  <a:lnTo>
                    <a:pt x="164846" y="114541"/>
                  </a:lnTo>
                  <a:lnTo>
                    <a:pt x="177533" y="111366"/>
                  </a:lnTo>
                  <a:lnTo>
                    <a:pt x="190207" y="104914"/>
                  </a:lnTo>
                  <a:lnTo>
                    <a:pt x="195922" y="95427"/>
                  </a:lnTo>
                  <a:lnTo>
                    <a:pt x="199720" y="89103"/>
                  </a:lnTo>
                  <a:lnTo>
                    <a:pt x="263118" y="73152"/>
                  </a:lnTo>
                  <a:lnTo>
                    <a:pt x="244106" y="28600"/>
                  </a:lnTo>
                  <a:lnTo>
                    <a:pt x="215569" y="9626"/>
                  </a:lnTo>
                  <a:lnTo>
                    <a:pt x="202882" y="3175"/>
                  </a:lnTo>
                  <a:lnTo>
                    <a:pt x="183870" y="0"/>
                  </a:lnTo>
                  <a:lnTo>
                    <a:pt x="142659" y="0"/>
                  </a:lnTo>
                  <a:lnTo>
                    <a:pt x="31699" y="98590"/>
                  </a:lnTo>
                  <a:lnTo>
                    <a:pt x="19024" y="146304"/>
                  </a:lnTo>
                  <a:lnTo>
                    <a:pt x="9512" y="200342"/>
                  </a:lnTo>
                  <a:lnTo>
                    <a:pt x="3175" y="263969"/>
                  </a:lnTo>
                  <a:lnTo>
                    <a:pt x="0" y="333933"/>
                  </a:lnTo>
                  <a:lnTo>
                    <a:pt x="0" y="368909"/>
                  </a:lnTo>
                  <a:lnTo>
                    <a:pt x="12687" y="429323"/>
                  </a:lnTo>
                  <a:lnTo>
                    <a:pt x="34874" y="483387"/>
                  </a:lnTo>
                  <a:lnTo>
                    <a:pt x="304571" y="654786"/>
                  </a:lnTo>
                  <a:lnTo>
                    <a:pt x="304330" y="658291"/>
                  </a:lnTo>
                  <a:lnTo>
                    <a:pt x="310680" y="760044"/>
                  </a:lnTo>
                  <a:lnTo>
                    <a:pt x="323354" y="814108"/>
                  </a:lnTo>
                  <a:lnTo>
                    <a:pt x="342379" y="864984"/>
                  </a:lnTo>
                  <a:lnTo>
                    <a:pt x="370916" y="909510"/>
                  </a:lnTo>
                  <a:lnTo>
                    <a:pt x="408952" y="950849"/>
                  </a:lnTo>
                  <a:lnTo>
                    <a:pt x="459663" y="979462"/>
                  </a:lnTo>
                  <a:lnTo>
                    <a:pt x="523074" y="1001725"/>
                  </a:lnTo>
                  <a:lnTo>
                    <a:pt x="602322" y="1008087"/>
                  </a:lnTo>
                  <a:lnTo>
                    <a:pt x="694258" y="1001725"/>
                  </a:lnTo>
                  <a:lnTo>
                    <a:pt x="748157" y="989012"/>
                  </a:lnTo>
                  <a:lnTo>
                    <a:pt x="805218" y="976287"/>
                  </a:lnTo>
                  <a:lnTo>
                    <a:pt x="817892" y="966749"/>
                  </a:lnTo>
                  <a:lnTo>
                    <a:pt x="859599" y="939317"/>
                  </a:lnTo>
                  <a:lnTo>
                    <a:pt x="868629" y="944486"/>
                  </a:lnTo>
                  <a:lnTo>
                    <a:pt x="916178" y="982649"/>
                  </a:lnTo>
                  <a:lnTo>
                    <a:pt x="941539" y="1017625"/>
                  </a:lnTo>
                  <a:lnTo>
                    <a:pt x="951039" y="1039888"/>
                  </a:lnTo>
                  <a:lnTo>
                    <a:pt x="963714" y="1065339"/>
                  </a:lnTo>
                  <a:lnTo>
                    <a:pt x="970064" y="1093952"/>
                  </a:lnTo>
                  <a:lnTo>
                    <a:pt x="976414" y="1125753"/>
                  </a:lnTo>
                  <a:lnTo>
                    <a:pt x="979576" y="1160729"/>
                  </a:lnTo>
                  <a:lnTo>
                    <a:pt x="979576" y="1198880"/>
                  </a:lnTo>
                  <a:lnTo>
                    <a:pt x="985913" y="1205255"/>
                  </a:lnTo>
                  <a:lnTo>
                    <a:pt x="1008113" y="1217968"/>
                  </a:lnTo>
                  <a:lnTo>
                    <a:pt x="1027125" y="1224318"/>
                  </a:lnTo>
                  <a:lnTo>
                    <a:pt x="1046149" y="1227518"/>
                  </a:lnTo>
                  <a:lnTo>
                    <a:pt x="1071511" y="1233868"/>
                  </a:lnTo>
                  <a:lnTo>
                    <a:pt x="1100035" y="1233868"/>
                  </a:lnTo>
                  <a:lnTo>
                    <a:pt x="1125397" y="1237043"/>
                  </a:lnTo>
                  <a:lnTo>
                    <a:pt x="1147597" y="1237043"/>
                  </a:lnTo>
                  <a:lnTo>
                    <a:pt x="1166609" y="1233868"/>
                  </a:lnTo>
                  <a:lnTo>
                    <a:pt x="1172959" y="1230693"/>
                  </a:lnTo>
                  <a:lnTo>
                    <a:pt x="1176121" y="1227518"/>
                  </a:lnTo>
                  <a:lnTo>
                    <a:pt x="1176121" y="1221143"/>
                  </a:lnTo>
                  <a:lnTo>
                    <a:pt x="1169784" y="1214793"/>
                  </a:lnTo>
                  <a:lnTo>
                    <a:pt x="1157097" y="1205255"/>
                  </a:lnTo>
                  <a:lnTo>
                    <a:pt x="1138085" y="1192530"/>
                  </a:lnTo>
                  <a:lnTo>
                    <a:pt x="1074686" y="1163904"/>
                  </a:lnTo>
                  <a:lnTo>
                    <a:pt x="1036637" y="1074864"/>
                  </a:lnTo>
                  <a:lnTo>
                    <a:pt x="1011275" y="1023988"/>
                  </a:lnTo>
                  <a:lnTo>
                    <a:pt x="982751" y="973112"/>
                  </a:lnTo>
                  <a:lnTo>
                    <a:pt x="954214" y="928598"/>
                  </a:lnTo>
                  <a:lnTo>
                    <a:pt x="925677" y="896785"/>
                  </a:lnTo>
                  <a:lnTo>
                    <a:pt x="925004" y="896289"/>
                  </a:lnTo>
                  <a:lnTo>
                    <a:pt x="1011275" y="839546"/>
                  </a:lnTo>
                  <a:lnTo>
                    <a:pt x="1068349" y="922223"/>
                  </a:lnTo>
                  <a:lnTo>
                    <a:pt x="1106385" y="992187"/>
                  </a:lnTo>
                  <a:lnTo>
                    <a:pt x="1122235" y="1039888"/>
                  </a:lnTo>
                  <a:lnTo>
                    <a:pt x="1122235" y="1055789"/>
                  </a:lnTo>
                  <a:lnTo>
                    <a:pt x="1153934" y="1055789"/>
                  </a:lnTo>
                  <a:lnTo>
                    <a:pt x="1172959" y="1052601"/>
                  </a:lnTo>
                  <a:lnTo>
                    <a:pt x="1198308" y="1043076"/>
                  </a:lnTo>
                  <a:lnTo>
                    <a:pt x="1223670" y="1030351"/>
                  </a:lnTo>
                  <a:lnTo>
                    <a:pt x="1249032" y="1011275"/>
                  </a:lnTo>
                  <a:lnTo>
                    <a:pt x="1274406" y="9826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23"/>
            <p:cNvSpPr/>
            <p:nvPr/>
          </p:nvSpPr>
          <p:spPr>
            <a:xfrm>
              <a:off x="7876130" y="685787"/>
              <a:ext cx="424815" cy="429895"/>
            </a:xfrm>
            <a:custGeom>
              <a:avLst/>
              <a:gdLst/>
              <a:ahLst/>
              <a:cxnLst/>
              <a:rect l="l" t="t" r="r" b="b"/>
              <a:pathLst>
                <a:path w="424815" h="429894">
                  <a:moveTo>
                    <a:pt x="129970" y="235642"/>
                  </a:moveTo>
                  <a:lnTo>
                    <a:pt x="136310" y="327773"/>
                  </a:lnTo>
                  <a:lnTo>
                    <a:pt x="142650" y="394594"/>
                  </a:lnTo>
                  <a:lnTo>
                    <a:pt x="145826" y="429523"/>
                  </a:lnTo>
                  <a:lnTo>
                    <a:pt x="183864" y="321446"/>
                  </a:lnTo>
                  <a:lnTo>
                    <a:pt x="339194" y="321446"/>
                  </a:lnTo>
                  <a:lnTo>
                    <a:pt x="345584" y="315118"/>
                  </a:lnTo>
                  <a:lnTo>
                    <a:pt x="361402" y="302336"/>
                  </a:lnTo>
                  <a:lnTo>
                    <a:pt x="386710" y="276899"/>
                  </a:lnTo>
                  <a:lnTo>
                    <a:pt x="231444" y="276899"/>
                  </a:lnTo>
                  <a:lnTo>
                    <a:pt x="206009" y="273735"/>
                  </a:lnTo>
                  <a:lnTo>
                    <a:pt x="183864" y="267407"/>
                  </a:lnTo>
                  <a:lnTo>
                    <a:pt x="129970" y="235642"/>
                  </a:lnTo>
                  <a:close/>
                </a:path>
                <a:path w="424815" h="429894">
                  <a:moveTo>
                    <a:pt x="339194" y="321446"/>
                  </a:moveTo>
                  <a:lnTo>
                    <a:pt x="183864" y="321446"/>
                  </a:lnTo>
                  <a:lnTo>
                    <a:pt x="206009" y="330937"/>
                  </a:lnTo>
                  <a:lnTo>
                    <a:pt x="225117" y="337392"/>
                  </a:lnTo>
                  <a:lnTo>
                    <a:pt x="247262" y="343719"/>
                  </a:lnTo>
                  <a:lnTo>
                    <a:pt x="272570" y="346883"/>
                  </a:lnTo>
                  <a:lnTo>
                    <a:pt x="288514" y="343719"/>
                  </a:lnTo>
                  <a:lnTo>
                    <a:pt x="301168" y="340555"/>
                  </a:lnTo>
                  <a:lnTo>
                    <a:pt x="332804" y="327773"/>
                  </a:lnTo>
                  <a:lnTo>
                    <a:pt x="339194" y="321446"/>
                  </a:lnTo>
                  <a:close/>
                </a:path>
                <a:path w="424815" h="429894">
                  <a:moveTo>
                    <a:pt x="366499" y="67073"/>
                  </a:moveTo>
                  <a:lnTo>
                    <a:pt x="158505" y="67073"/>
                  </a:lnTo>
                  <a:lnTo>
                    <a:pt x="180701" y="70237"/>
                  </a:lnTo>
                  <a:lnTo>
                    <a:pt x="206009" y="73400"/>
                  </a:lnTo>
                  <a:lnTo>
                    <a:pt x="250425" y="86182"/>
                  </a:lnTo>
                  <a:lnTo>
                    <a:pt x="291678" y="102002"/>
                  </a:lnTo>
                  <a:lnTo>
                    <a:pt x="339257" y="140221"/>
                  </a:lnTo>
                  <a:lnTo>
                    <a:pt x="351911" y="168822"/>
                  </a:lnTo>
                  <a:lnTo>
                    <a:pt x="355075" y="181477"/>
                  </a:lnTo>
                  <a:lnTo>
                    <a:pt x="351911" y="197423"/>
                  </a:lnTo>
                  <a:lnTo>
                    <a:pt x="345584" y="213369"/>
                  </a:lnTo>
                  <a:lnTo>
                    <a:pt x="332804" y="232478"/>
                  </a:lnTo>
                  <a:lnTo>
                    <a:pt x="316986" y="245134"/>
                  </a:lnTo>
                  <a:lnTo>
                    <a:pt x="298005" y="261080"/>
                  </a:lnTo>
                  <a:lnTo>
                    <a:pt x="275860" y="270571"/>
                  </a:lnTo>
                  <a:lnTo>
                    <a:pt x="253589" y="276899"/>
                  </a:lnTo>
                  <a:lnTo>
                    <a:pt x="386710" y="276899"/>
                  </a:lnTo>
                  <a:lnTo>
                    <a:pt x="405818" y="248298"/>
                  </a:lnTo>
                  <a:lnTo>
                    <a:pt x="415309" y="232478"/>
                  </a:lnTo>
                  <a:lnTo>
                    <a:pt x="418472" y="216533"/>
                  </a:lnTo>
                  <a:lnTo>
                    <a:pt x="424799" y="200587"/>
                  </a:lnTo>
                  <a:lnTo>
                    <a:pt x="424799" y="181477"/>
                  </a:lnTo>
                  <a:lnTo>
                    <a:pt x="421636" y="152876"/>
                  </a:lnTo>
                  <a:lnTo>
                    <a:pt x="412145" y="124275"/>
                  </a:lnTo>
                  <a:lnTo>
                    <a:pt x="393037" y="95674"/>
                  </a:lnTo>
                  <a:lnTo>
                    <a:pt x="370893" y="70237"/>
                  </a:lnTo>
                  <a:lnTo>
                    <a:pt x="366499" y="67073"/>
                  </a:lnTo>
                  <a:close/>
                </a:path>
                <a:path w="424815" h="429894">
                  <a:moveTo>
                    <a:pt x="184747" y="0"/>
                  </a:moveTo>
                  <a:lnTo>
                    <a:pt x="112979" y="0"/>
                  </a:lnTo>
                  <a:lnTo>
                    <a:pt x="110951" y="252"/>
                  </a:lnTo>
                  <a:lnTo>
                    <a:pt x="66573" y="16198"/>
                  </a:lnTo>
                  <a:lnTo>
                    <a:pt x="25358" y="44799"/>
                  </a:lnTo>
                  <a:lnTo>
                    <a:pt x="0" y="83019"/>
                  </a:lnTo>
                  <a:lnTo>
                    <a:pt x="0" y="102002"/>
                  </a:lnTo>
                  <a:lnTo>
                    <a:pt x="3163" y="121111"/>
                  </a:lnTo>
                  <a:lnTo>
                    <a:pt x="12679" y="140221"/>
                  </a:lnTo>
                  <a:lnTo>
                    <a:pt x="25358" y="156040"/>
                  </a:lnTo>
                  <a:lnTo>
                    <a:pt x="44378" y="165658"/>
                  </a:lnTo>
                  <a:lnTo>
                    <a:pt x="79252" y="105165"/>
                  </a:lnTo>
                  <a:lnTo>
                    <a:pt x="69737" y="98838"/>
                  </a:lnTo>
                  <a:lnTo>
                    <a:pt x="76076" y="92510"/>
                  </a:lnTo>
                  <a:lnTo>
                    <a:pt x="95095" y="79728"/>
                  </a:lnTo>
                  <a:lnTo>
                    <a:pt x="98272" y="79728"/>
                  </a:lnTo>
                  <a:lnTo>
                    <a:pt x="110951" y="76564"/>
                  </a:lnTo>
                  <a:lnTo>
                    <a:pt x="123631" y="70237"/>
                  </a:lnTo>
                  <a:lnTo>
                    <a:pt x="158505" y="67073"/>
                  </a:lnTo>
                  <a:lnTo>
                    <a:pt x="366499" y="67073"/>
                  </a:lnTo>
                  <a:lnTo>
                    <a:pt x="348748" y="54291"/>
                  </a:lnTo>
                  <a:lnTo>
                    <a:pt x="326477" y="41636"/>
                  </a:lnTo>
                  <a:lnTo>
                    <a:pt x="275860" y="16198"/>
                  </a:lnTo>
                  <a:lnTo>
                    <a:pt x="218790" y="3416"/>
                  </a:lnTo>
                  <a:lnTo>
                    <a:pt x="187028" y="252"/>
                  </a:lnTo>
                  <a:lnTo>
                    <a:pt x="184747" y="0"/>
                  </a:lnTo>
                  <a:close/>
                </a:path>
              </a:pathLst>
            </a:custGeom>
            <a:solidFill>
              <a:srgbClr val="8BC5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68063" y="1131256"/>
              <a:ext cx="114077" cy="114493"/>
            </a:xfrm>
            <a:prstGeom prst="rect">
              <a:avLst/>
            </a:prstGeom>
          </p:spPr>
        </p:pic>
        <p:pic>
          <p:nvPicPr>
            <p:cNvPr id="1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98314" y="768806"/>
              <a:ext cx="101448" cy="98458"/>
            </a:xfrm>
            <a:prstGeom prst="rect">
              <a:avLst/>
            </a:prstGeom>
          </p:spPr>
        </p:pic>
        <p:pic>
          <p:nvPicPr>
            <p:cNvPr id="1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27407" y="1318885"/>
              <a:ext cx="171198" cy="1017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37223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Asynchronous web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4724400"/>
            <a:ext cx="8153400" cy="1524000"/>
          </a:xfrm>
        </p:spPr>
        <p:txBody>
          <a:bodyPr/>
          <a:lstStyle/>
          <a:p>
            <a:r>
              <a:rPr lang="en-US" b="1" dirty="0"/>
              <a:t>asynchronous</a:t>
            </a:r>
            <a:r>
              <a:rPr lang="en-US" dirty="0"/>
              <a:t>: user can keep interacting with page while data loads</a:t>
            </a:r>
          </a:p>
          <a:p>
            <a:pPr lvl="1"/>
            <a:r>
              <a:rPr lang="en-US" dirty="0"/>
              <a:t>communication pattern made possible by Ajax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8797"/>
            <a:ext cx="7848600" cy="3305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4269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Introduction to AJAX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990600"/>
            <a:ext cx="8153400" cy="5638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000" dirty="0">
                <a:latin typeface="Times New Roman" pitchFamily="18" charset="0"/>
              </a:rPr>
              <a:t>AJAX is an acronym for </a:t>
            </a:r>
            <a:r>
              <a:rPr lang="en-US" sz="2000" b="1" dirty="0">
                <a:latin typeface="Times New Roman" pitchFamily="18" charset="0"/>
              </a:rPr>
              <a:t>A</a:t>
            </a:r>
            <a:r>
              <a:rPr lang="en-US" sz="2000" dirty="0">
                <a:latin typeface="Times New Roman" pitchFamily="18" charset="0"/>
              </a:rPr>
              <a:t>synchronous </a:t>
            </a:r>
            <a:r>
              <a:rPr lang="en-US" sz="2000" b="1" dirty="0">
                <a:latin typeface="Times New Roman" pitchFamily="18" charset="0"/>
              </a:rPr>
              <a:t>J</a:t>
            </a:r>
            <a:r>
              <a:rPr lang="en-US" sz="2000" dirty="0">
                <a:latin typeface="Times New Roman" pitchFamily="18" charset="0"/>
              </a:rPr>
              <a:t>avaScript </a:t>
            </a:r>
            <a:r>
              <a:rPr lang="en-US" sz="2000" b="1" dirty="0">
                <a:latin typeface="Times New Roman" pitchFamily="18" charset="0"/>
              </a:rPr>
              <a:t>A</a:t>
            </a:r>
            <a:r>
              <a:rPr lang="en-US" sz="2000" dirty="0">
                <a:latin typeface="Times New Roman" pitchFamily="18" charset="0"/>
              </a:rPr>
              <a:t>nd </a:t>
            </a:r>
            <a:r>
              <a:rPr lang="en-US" sz="2000" b="1" dirty="0">
                <a:latin typeface="Times New Roman" pitchFamily="18" charset="0"/>
              </a:rPr>
              <a:t>X</a:t>
            </a:r>
            <a:r>
              <a:rPr lang="en-US" sz="2000" dirty="0">
                <a:latin typeface="Times New Roman" pitchFamily="18" charset="0"/>
              </a:rPr>
              <a:t>ML. </a:t>
            </a:r>
          </a:p>
          <a:p>
            <a:pPr>
              <a:lnSpc>
                <a:spcPct val="80000"/>
              </a:lnSpc>
            </a:pPr>
            <a:endParaRPr lang="en-US" sz="2000" dirty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dirty="0">
                <a:latin typeface="Times New Roman" pitchFamily="18" charset="0"/>
              </a:rPr>
              <a:t>AJAX is not a programming language. but simply a development technique for creating interactive web applications.</a:t>
            </a:r>
          </a:p>
          <a:p>
            <a:pPr>
              <a:lnSpc>
                <a:spcPct val="80000"/>
              </a:lnSpc>
            </a:pPr>
            <a:endParaRPr lang="en-US" sz="2000" dirty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dirty="0">
                <a:latin typeface="Times New Roman" pitchFamily="18" charset="0"/>
              </a:rPr>
              <a:t>The technology uses JavaScript to send and receive data between a web browser and a web server.</a:t>
            </a:r>
          </a:p>
          <a:p>
            <a:pPr>
              <a:lnSpc>
                <a:spcPct val="80000"/>
              </a:lnSpc>
            </a:pPr>
            <a:endParaRPr lang="en-US" sz="2000" dirty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dirty="0">
                <a:latin typeface="Times New Roman" pitchFamily="18" charset="0"/>
              </a:rPr>
              <a:t>The AJAX technique makes web pages more responsive by exchanging data with a server behind the scenes, instead of reloading an entire web page each time a user makes a change.</a:t>
            </a:r>
          </a:p>
          <a:p>
            <a:pPr>
              <a:lnSpc>
                <a:spcPct val="80000"/>
              </a:lnSpc>
            </a:pPr>
            <a:endParaRPr lang="en-US" sz="2000" dirty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dirty="0">
                <a:latin typeface="Times New Roman" pitchFamily="18" charset="0"/>
              </a:rPr>
              <a:t>With AJAX, web applications can be faster, more interactive, and more user friendly.</a:t>
            </a:r>
          </a:p>
          <a:p>
            <a:pPr>
              <a:lnSpc>
                <a:spcPct val="80000"/>
              </a:lnSpc>
            </a:pPr>
            <a:endParaRPr lang="en-US" sz="2000" dirty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dirty="0">
                <a:latin typeface="Times New Roman" pitchFamily="18" charset="0"/>
              </a:rPr>
              <a:t>AJAX uses an </a:t>
            </a:r>
            <a:r>
              <a:rPr lang="en-US" sz="2000" dirty="0" err="1">
                <a:latin typeface="Times New Roman" pitchFamily="18" charset="0"/>
              </a:rPr>
              <a:t>XMLHttpRequest</a:t>
            </a:r>
            <a:r>
              <a:rPr lang="en-US" sz="2000" dirty="0">
                <a:latin typeface="Times New Roman" pitchFamily="18" charset="0"/>
              </a:rPr>
              <a:t> object to send data to a web server, and XML is commonly used as the format for receiving server data, although any format including and plain text can be used.</a:t>
            </a:r>
          </a:p>
        </p:txBody>
      </p:sp>
    </p:spTree>
    <p:extLst>
      <p:ext uri="{BB962C8B-B14F-4D97-AF65-F5344CB8AC3E}">
        <p14:creationId xmlns:p14="http://schemas.microsoft.com/office/powerpoint/2010/main" val="1946560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IN" dirty="0"/>
              <a:t>So what is Ajax ?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2120950"/>
            <a:ext cx="769620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6540" indent="-243840">
              <a:lnSpc>
                <a:spcPct val="100000"/>
              </a:lnSpc>
              <a:spcBef>
                <a:spcPts val="869"/>
              </a:spcBef>
              <a:buFont typeface="Arial"/>
              <a:buChar char="•"/>
              <a:tabLst>
                <a:tab pos="256540" algn="l"/>
              </a:tabLst>
            </a:pPr>
            <a:r>
              <a:rPr lang="en-IN" sz="2800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lang="en-IN" sz="28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C00000"/>
                </a:solidFill>
                <a:latin typeface="Times New Roman"/>
                <a:cs typeface="Times New Roman"/>
              </a:rPr>
              <a:t>programming</a:t>
            </a:r>
            <a:r>
              <a:rPr lang="en-IN" sz="28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C00000"/>
                </a:solidFill>
                <a:latin typeface="Times New Roman"/>
                <a:cs typeface="Times New Roman"/>
              </a:rPr>
              <a:t>language</a:t>
            </a:r>
            <a:r>
              <a:rPr lang="en-IN" sz="28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C00000"/>
                </a:solidFill>
                <a:latin typeface="Times New Roman"/>
                <a:cs typeface="Times New Roman"/>
              </a:rPr>
              <a:t>–</a:t>
            </a:r>
            <a:r>
              <a:rPr lang="en-IN" sz="28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2800" spc="5" dirty="0">
                <a:solidFill>
                  <a:srgbClr val="C00000"/>
                </a:solidFill>
                <a:latin typeface="Times New Roman"/>
                <a:cs typeface="Times New Roman"/>
              </a:rPr>
              <a:t>no…</a:t>
            </a:r>
            <a:endParaRPr lang="en-IN" sz="2800" dirty="0">
              <a:latin typeface="Times New Roman"/>
              <a:cs typeface="Times New Roman"/>
            </a:endParaRPr>
          </a:p>
          <a:p>
            <a:pPr marL="256540" indent="-24384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56540" algn="l"/>
              </a:tabLst>
            </a:pPr>
            <a:r>
              <a:rPr lang="en-IN" sz="2800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lang="en-IN" sz="2800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C00000"/>
                </a:solidFill>
                <a:latin typeface="Times New Roman"/>
                <a:cs typeface="Times New Roman"/>
              </a:rPr>
              <a:t>new</a:t>
            </a:r>
            <a:r>
              <a:rPr lang="en-IN" sz="28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C00000"/>
                </a:solidFill>
                <a:latin typeface="Times New Roman"/>
                <a:cs typeface="Times New Roman"/>
              </a:rPr>
              <a:t>technology</a:t>
            </a:r>
            <a:r>
              <a:rPr lang="en-IN" sz="28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C00000"/>
                </a:solidFill>
                <a:latin typeface="Times New Roman"/>
                <a:cs typeface="Times New Roman"/>
              </a:rPr>
              <a:t>–</a:t>
            </a:r>
            <a:r>
              <a:rPr lang="en-IN" sz="28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C00000"/>
                </a:solidFill>
                <a:latin typeface="Times New Roman"/>
                <a:cs typeface="Times New Roman"/>
              </a:rPr>
              <a:t>not</a:t>
            </a:r>
            <a:r>
              <a:rPr lang="en-IN" sz="28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C00000"/>
                </a:solidFill>
                <a:latin typeface="Times New Roman"/>
                <a:cs typeface="Times New Roman"/>
              </a:rPr>
              <a:t>exactly…</a:t>
            </a:r>
            <a:endParaRPr lang="en-IN" sz="2800" dirty="0">
              <a:latin typeface="Times New Roman"/>
              <a:cs typeface="Times New Roman"/>
            </a:endParaRPr>
          </a:p>
          <a:p>
            <a:pPr marL="256540" indent="-24384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56540" algn="l"/>
              </a:tabLst>
            </a:pPr>
            <a:r>
              <a:rPr lang="en-IN" sz="2800" dirty="0">
                <a:solidFill>
                  <a:srgbClr val="C00000"/>
                </a:solidFill>
                <a:latin typeface="Times New Roman"/>
                <a:cs typeface="Times New Roman"/>
              </a:rPr>
              <a:t>So</a:t>
            </a:r>
            <a:r>
              <a:rPr lang="en-IN" sz="2800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C00000"/>
                </a:solidFill>
                <a:latin typeface="Times New Roman"/>
                <a:cs typeface="Times New Roman"/>
              </a:rPr>
              <a:t>what</a:t>
            </a:r>
            <a:r>
              <a:rPr lang="en-IN" sz="2800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C00000"/>
                </a:solidFill>
                <a:latin typeface="Times New Roman"/>
                <a:cs typeface="Times New Roman"/>
              </a:rPr>
              <a:t>else</a:t>
            </a:r>
            <a:r>
              <a:rPr lang="en-IN" sz="2800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C00000"/>
                </a:solidFill>
                <a:latin typeface="Times New Roman"/>
                <a:cs typeface="Times New Roman"/>
              </a:rPr>
              <a:t>?</a:t>
            </a:r>
            <a:endParaRPr lang="en-IN" sz="28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770"/>
              </a:spcBef>
            </a:pPr>
            <a:r>
              <a:rPr lang="en-IN" sz="2800" spc="5" dirty="0">
                <a:solidFill>
                  <a:srgbClr val="00AF50"/>
                </a:solidFill>
                <a:latin typeface="Wingdings"/>
                <a:cs typeface="Wingdings"/>
              </a:rPr>
              <a:t></a:t>
            </a:r>
            <a:r>
              <a:rPr lang="en-IN" sz="2800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00AF50"/>
                </a:solidFill>
                <a:latin typeface="Times New Roman"/>
                <a:cs typeface="Times New Roman"/>
              </a:rPr>
              <a:t>It is a methodology on using several web </a:t>
            </a:r>
            <a:r>
              <a:rPr lang="en-IN" sz="2800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00AF50"/>
                </a:solidFill>
                <a:latin typeface="Times New Roman"/>
                <a:cs typeface="Times New Roman"/>
              </a:rPr>
              <a:t>technologies</a:t>
            </a:r>
            <a:r>
              <a:rPr lang="en-IN" sz="2800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00AF50"/>
                </a:solidFill>
                <a:latin typeface="Times New Roman"/>
                <a:cs typeface="Times New Roman"/>
              </a:rPr>
              <a:t>together,</a:t>
            </a:r>
            <a:r>
              <a:rPr lang="en-IN" sz="2800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00AF50"/>
                </a:solidFill>
                <a:latin typeface="Times New Roman"/>
                <a:cs typeface="Times New Roman"/>
              </a:rPr>
              <a:t>in an effort</a:t>
            </a:r>
            <a:r>
              <a:rPr lang="en-IN" sz="2800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00AF50"/>
                </a:solidFill>
                <a:latin typeface="Times New Roman"/>
                <a:cs typeface="Times New Roman"/>
              </a:rPr>
              <a:t>to close</a:t>
            </a:r>
            <a:r>
              <a:rPr lang="en-IN" sz="2800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lang="en-IN"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the </a:t>
            </a:r>
            <a:r>
              <a:rPr lang="en-IN" sz="2800" spc="-78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00AF50"/>
                </a:solidFill>
                <a:latin typeface="Times New Roman"/>
                <a:cs typeface="Times New Roman"/>
              </a:rPr>
              <a:t>gap between the usability and interactivity of </a:t>
            </a:r>
            <a:r>
              <a:rPr lang="en-IN" sz="2800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00AF50"/>
                </a:solidFill>
                <a:latin typeface="Times New Roman"/>
                <a:cs typeface="Times New Roman"/>
              </a:rPr>
              <a:t>a</a:t>
            </a:r>
            <a:r>
              <a:rPr lang="en-IN" sz="28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00AF50"/>
                </a:solidFill>
                <a:latin typeface="Times New Roman"/>
                <a:cs typeface="Times New Roman"/>
              </a:rPr>
              <a:t>desktop</a:t>
            </a:r>
            <a:r>
              <a:rPr lang="en-IN" sz="2800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00AF50"/>
                </a:solidFill>
                <a:latin typeface="Times New Roman"/>
                <a:cs typeface="Times New Roman"/>
              </a:rPr>
              <a:t>application</a:t>
            </a:r>
            <a:r>
              <a:rPr lang="en-IN" sz="2800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lang="en-IN" sz="28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lang="en-IN" sz="2800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00AF50"/>
                </a:solidFill>
                <a:latin typeface="Times New Roman"/>
                <a:cs typeface="Times New Roman"/>
              </a:rPr>
              <a:t>ever</a:t>
            </a:r>
            <a:r>
              <a:rPr lang="en-IN" sz="2800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00AF50"/>
                </a:solidFill>
                <a:latin typeface="Times New Roman"/>
                <a:cs typeface="Times New Roman"/>
              </a:rPr>
              <a:t>demanding </a:t>
            </a:r>
            <a:r>
              <a:rPr lang="en-IN" sz="2800" spc="-78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00AF50"/>
                </a:solidFill>
                <a:latin typeface="Times New Roman"/>
                <a:cs typeface="Times New Roman"/>
              </a:rPr>
              <a:t>web</a:t>
            </a:r>
            <a:r>
              <a:rPr lang="en-IN" sz="2800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00AF50"/>
                </a:solidFill>
                <a:latin typeface="Times New Roman"/>
                <a:cs typeface="Times New Roman"/>
              </a:rPr>
              <a:t>application</a:t>
            </a:r>
            <a:r>
              <a:rPr lang="en-IN" sz="28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lang="en-IN" sz="2800" dirty="0">
                <a:solidFill>
                  <a:srgbClr val="00AF50"/>
                </a:solidFill>
                <a:latin typeface="Wingdings"/>
                <a:cs typeface="Wingdings"/>
              </a:rPr>
              <a:t></a:t>
            </a:r>
            <a:endParaRPr lang="en-IN" sz="2800" dirty="0"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663501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74649" y="399254"/>
            <a:ext cx="597601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Order of Developments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74649" y="1696339"/>
            <a:ext cx="7907655" cy="3409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56235" algn="l"/>
              </a:tabLst>
            </a:pPr>
            <a:r>
              <a:rPr sz="3000" dirty="0">
                <a:latin typeface="Times New Roman"/>
                <a:cs typeface="Times New Roman"/>
              </a:rPr>
              <a:t>Internet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Explorer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introduces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concept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 </a:t>
            </a:r>
            <a:r>
              <a:rPr sz="3000" spc="-73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IFrame</a:t>
            </a:r>
            <a:r>
              <a:rPr sz="3000" spc="4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element</a:t>
            </a:r>
            <a:r>
              <a:rPr sz="3000" spc="45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in</a:t>
            </a:r>
            <a:r>
              <a:rPr sz="3000" spc="45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1996.(a</a:t>
            </a:r>
            <a:r>
              <a:rPr sz="3000" spc="4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technique</a:t>
            </a:r>
            <a:r>
              <a:rPr sz="3000" spc="459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4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helps </a:t>
            </a:r>
            <a:r>
              <a:rPr sz="3000" spc="-74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in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loading</a:t>
            </a:r>
            <a:r>
              <a:rPr sz="3000" spc="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contents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 a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web </a:t>
            </a:r>
            <a:r>
              <a:rPr sz="3000" dirty="0">
                <a:latin typeface="Times New Roman"/>
                <a:cs typeface="Times New Roman"/>
              </a:rPr>
              <a:t>page.)</a:t>
            </a: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</a:pPr>
            <a:endParaRPr sz="4350" dirty="0">
              <a:latin typeface="Times New Roman"/>
              <a:cs typeface="Times New Roman"/>
            </a:endParaRPr>
          </a:p>
          <a:p>
            <a:pPr marL="355600" marR="6350" indent="-343535" algn="just">
              <a:lnSpc>
                <a:spcPct val="100000"/>
              </a:lnSpc>
              <a:buChar char="•"/>
              <a:tabLst>
                <a:tab pos="356235" algn="l"/>
              </a:tabLst>
            </a:pPr>
            <a:r>
              <a:rPr sz="3000" spc="-5" dirty="0">
                <a:latin typeface="Times New Roman"/>
                <a:cs typeface="Times New Roman"/>
              </a:rPr>
              <a:t>In </a:t>
            </a:r>
            <a:r>
              <a:rPr sz="3000" dirty="0">
                <a:latin typeface="Times New Roman"/>
                <a:cs typeface="Times New Roman"/>
              </a:rPr>
              <a:t>the year </a:t>
            </a:r>
            <a:r>
              <a:rPr sz="3000" spc="-5" dirty="0">
                <a:latin typeface="Times New Roman"/>
                <a:cs typeface="Times New Roman"/>
              </a:rPr>
              <a:t>1998, Microsoft </a:t>
            </a:r>
            <a:r>
              <a:rPr sz="3000" dirty="0">
                <a:latin typeface="Times New Roman"/>
                <a:cs typeface="Times New Roman"/>
              </a:rPr>
              <a:t>introduces another 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technique, </a:t>
            </a:r>
            <a:r>
              <a:rPr sz="3000" spc="-5" dirty="0">
                <a:latin typeface="Times New Roman"/>
                <a:cs typeface="Times New Roman"/>
              </a:rPr>
              <a:t>called </a:t>
            </a:r>
            <a:r>
              <a:rPr sz="3000" spc="-45" dirty="0">
                <a:latin typeface="Times New Roman"/>
                <a:cs typeface="Times New Roman"/>
              </a:rPr>
              <a:t>‗Microsoft‘s </a:t>
            </a:r>
            <a:r>
              <a:rPr sz="3000" dirty="0">
                <a:latin typeface="Times New Roman"/>
                <a:cs typeface="Times New Roman"/>
              </a:rPr>
              <a:t>Remote </a:t>
            </a:r>
            <a:r>
              <a:rPr sz="3000" spc="-5" dirty="0">
                <a:latin typeface="Times New Roman"/>
                <a:cs typeface="Times New Roman"/>
              </a:rPr>
              <a:t>Scripting‘ </a:t>
            </a:r>
            <a:r>
              <a:rPr sz="3000" spc="-73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as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replacement</a:t>
            </a:r>
            <a:r>
              <a:rPr sz="3000" spc="4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to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 older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techniques.</a:t>
            </a:r>
            <a:endParaRPr sz="3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53942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1654" y="1162939"/>
            <a:ext cx="7920355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3000" spc="-5" dirty="0">
                <a:latin typeface="Times New Roman"/>
                <a:cs typeface="Times New Roman"/>
              </a:rPr>
              <a:t>A </a:t>
            </a:r>
            <a:r>
              <a:rPr sz="3000" dirty="0">
                <a:latin typeface="Times New Roman"/>
                <a:cs typeface="Times New Roman"/>
              </a:rPr>
              <a:t>year later, </a:t>
            </a:r>
            <a:r>
              <a:rPr sz="3000" spc="-5" dirty="0">
                <a:latin typeface="Times New Roman"/>
                <a:cs typeface="Times New Roman"/>
              </a:rPr>
              <a:t>in </a:t>
            </a:r>
            <a:r>
              <a:rPr sz="3000" dirty="0">
                <a:latin typeface="Times New Roman"/>
                <a:cs typeface="Times New Roman"/>
              </a:rPr>
              <a:t>1999, </a:t>
            </a:r>
            <a:r>
              <a:rPr sz="3000" spc="-5" dirty="0">
                <a:latin typeface="Times New Roman"/>
                <a:cs typeface="Times New Roman"/>
              </a:rPr>
              <a:t>Microsoft </a:t>
            </a:r>
            <a:r>
              <a:rPr sz="3000" dirty="0">
                <a:latin typeface="Times New Roman"/>
                <a:cs typeface="Times New Roman"/>
              </a:rPr>
              <a:t>introduces the 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XMLHttpRequest </a:t>
            </a:r>
            <a:r>
              <a:rPr sz="3000" dirty="0">
                <a:latin typeface="Times New Roman"/>
                <a:cs typeface="Times New Roman"/>
              </a:rPr>
              <a:t>object, an ActiveX control, </a:t>
            </a:r>
            <a:r>
              <a:rPr sz="3000" spc="5" dirty="0">
                <a:latin typeface="Times New Roman"/>
                <a:cs typeface="Times New Roman"/>
              </a:rPr>
              <a:t>in 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IE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5.</a:t>
            </a:r>
            <a:endParaRPr sz="30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20"/>
              </a:spcBef>
              <a:buChar char="•"/>
              <a:tabLst>
                <a:tab pos="355600" algn="l"/>
              </a:tabLst>
            </a:pPr>
            <a:r>
              <a:rPr sz="3000" dirty="0">
                <a:latin typeface="Times New Roman"/>
                <a:cs typeface="Times New Roman"/>
              </a:rPr>
              <a:t>The  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term  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AJAX</a:t>
            </a:r>
            <a:r>
              <a:rPr sz="3000" spc="14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is</a:t>
            </a:r>
            <a:r>
              <a:rPr sz="3000" spc="73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coined   </a:t>
            </a:r>
            <a:r>
              <a:rPr sz="3000" spc="5" dirty="0">
                <a:latin typeface="Times New Roman"/>
                <a:cs typeface="Times New Roman"/>
              </a:rPr>
              <a:t>on   </a:t>
            </a:r>
            <a:r>
              <a:rPr sz="3000" dirty="0">
                <a:latin typeface="Times New Roman"/>
                <a:cs typeface="Times New Roman"/>
              </a:rPr>
              <a:t>February 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18,</a:t>
            </a:r>
            <a:r>
              <a:rPr sz="3000" dirty="0">
                <a:latin typeface="Times New Roman"/>
                <a:cs typeface="Times New Roman"/>
              </a:rPr>
              <a:t> 2005,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by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b="1" spc="-5" dirty="0">
                <a:latin typeface="Times New Roman"/>
                <a:cs typeface="Times New Roman"/>
              </a:rPr>
              <a:t>Jesse</a:t>
            </a:r>
            <a:r>
              <a:rPr sz="3000" b="1" dirty="0">
                <a:latin typeface="Times New Roman"/>
                <a:cs typeface="Times New Roman"/>
              </a:rPr>
              <a:t> James</a:t>
            </a:r>
            <a:r>
              <a:rPr sz="3000" b="1" spc="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Garret</a:t>
            </a:r>
            <a:r>
              <a:rPr sz="3000" b="1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in</a:t>
            </a:r>
            <a:r>
              <a:rPr sz="3000" dirty="0">
                <a:latin typeface="Times New Roman"/>
                <a:cs typeface="Times New Roman"/>
              </a:rPr>
              <a:t> a</a:t>
            </a:r>
            <a:r>
              <a:rPr sz="3000" spc="7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short 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essay published </a:t>
            </a:r>
            <a:r>
              <a:rPr sz="3000" dirty="0">
                <a:latin typeface="Times New Roman"/>
                <a:cs typeface="Times New Roman"/>
              </a:rPr>
              <a:t>a few </a:t>
            </a:r>
            <a:r>
              <a:rPr sz="3000" spc="-5" dirty="0">
                <a:latin typeface="Times New Roman"/>
                <a:cs typeface="Times New Roman"/>
              </a:rPr>
              <a:t>days after Google </a:t>
            </a:r>
            <a:r>
              <a:rPr sz="3000" dirty="0">
                <a:latin typeface="Times New Roman"/>
                <a:cs typeface="Times New Roman"/>
              </a:rPr>
              <a:t>released </a:t>
            </a:r>
            <a:r>
              <a:rPr sz="3000" spc="-7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its</a:t>
            </a:r>
            <a:r>
              <a:rPr sz="3000" spc="-5" dirty="0">
                <a:latin typeface="Times New Roman"/>
                <a:cs typeface="Times New Roman"/>
              </a:rPr>
              <a:t> Maps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application.</a:t>
            </a:r>
            <a:endParaRPr sz="3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43000" y="4499355"/>
            <a:ext cx="7391400" cy="2044700"/>
            <a:chOff x="1143000" y="4499355"/>
            <a:chExt cx="7391400" cy="20447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" y="4571999"/>
              <a:ext cx="4305300" cy="19716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8555" y="4499355"/>
              <a:ext cx="2815844" cy="20443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9624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1654" y="1162939"/>
            <a:ext cx="7920355" cy="17363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5"/>
              </a:spcBef>
              <a:buChar char="•"/>
              <a:tabLst>
                <a:tab pos="356235" algn="l"/>
              </a:tabLst>
            </a:pPr>
            <a:r>
              <a:rPr lang="en-IN" sz="2800" spc="-5" dirty="0">
                <a:latin typeface="Times New Roman"/>
                <a:cs typeface="Times New Roman"/>
              </a:rPr>
              <a:t>Finally, </a:t>
            </a:r>
            <a:r>
              <a:rPr lang="en-IN" sz="2800" spc="-10" dirty="0">
                <a:latin typeface="Times New Roman"/>
                <a:cs typeface="Times New Roman"/>
              </a:rPr>
              <a:t>in </a:t>
            </a:r>
            <a:r>
              <a:rPr lang="en-IN" sz="2800" spc="-5" dirty="0">
                <a:latin typeface="Times New Roman"/>
                <a:cs typeface="Times New Roman"/>
              </a:rPr>
              <a:t>the </a:t>
            </a:r>
            <a:r>
              <a:rPr lang="en-IN" sz="2800" dirty="0">
                <a:latin typeface="Times New Roman"/>
                <a:cs typeface="Times New Roman"/>
              </a:rPr>
              <a:t>year 2006, the </a:t>
            </a:r>
            <a:r>
              <a:rPr lang="en-IN" sz="2800" spc="-5" dirty="0">
                <a:latin typeface="Times New Roman"/>
                <a:cs typeface="Times New Roman"/>
              </a:rPr>
              <a:t>W3C (World </a:t>
            </a:r>
            <a:r>
              <a:rPr lang="en-IN" sz="2800" dirty="0">
                <a:latin typeface="Times New Roman"/>
                <a:cs typeface="Times New Roman"/>
              </a:rPr>
              <a:t> Wide</a:t>
            </a:r>
            <a:r>
              <a:rPr lang="en-IN" sz="2800" spc="785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/>
                <a:cs typeface="Times New Roman"/>
              </a:rPr>
              <a:t>Web</a:t>
            </a:r>
            <a:r>
              <a:rPr lang="en-IN" sz="2800" spc="5" dirty="0">
                <a:latin typeface="Times New Roman"/>
                <a:cs typeface="Times New Roman"/>
              </a:rPr>
              <a:t> </a:t>
            </a:r>
            <a:r>
              <a:rPr lang="en-IN" sz="2800" spc="-5" dirty="0">
                <a:latin typeface="Times New Roman"/>
                <a:cs typeface="Times New Roman"/>
              </a:rPr>
              <a:t>Consortium)</a:t>
            </a:r>
            <a:r>
              <a:rPr lang="en-IN" sz="2800" spc="790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/>
                <a:cs typeface="Times New Roman"/>
              </a:rPr>
              <a:t>announces</a:t>
            </a:r>
            <a:r>
              <a:rPr lang="en-IN" sz="2800" spc="785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/>
                <a:cs typeface="Times New Roman"/>
              </a:rPr>
              <a:t>the </a:t>
            </a:r>
            <a:r>
              <a:rPr lang="en-IN" sz="2800" spc="-790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/>
                <a:cs typeface="Times New Roman"/>
              </a:rPr>
              <a:t>release </a:t>
            </a:r>
            <a:r>
              <a:rPr lang="en-IN" sz="2800" spc="-5" dirty="0">
                <a:latin typeface="Times New Roman"/>
                <a:cs typeface="Times New Roman"/>
              </a:rPr>
              <a:t>of the first draft which includes the </a:t>
            </a:r>
            <a:r>
              <a:rPr lang="en-IN" sz="2800" dirty="0">
                <a:latin typeface="Times New Roman"/>
                <a:cs typeface="Times New Roman"/>
              </a:rPr>
              <a:t> specification </a:t>
            </a:r>
            <a:r>
              <a:rPr lang="en-IN" sz="2800" spc="-5" dirty="0">
                <a:latin typeface="Times New Roman"/>
                <a:cs typeface="Times New Roman"/>
              </a:rPr>
              <a:t>for the </a:t>
            </a:r>
            <a:r>
              <a:rPr lang="en-IN" sz="2800" dirty="0">
                <a:latin typeface="Times New Roman"/>
                <a:cs typeface="Times New Roman"/>
              </a:rPr>
              <a:t>object (XHR) </a:t>
            </a:r>
            <a:r>
              <a:rPr lang="en-IN" sz="2800" spc="-5" dirty="0">
                <a:latin typeface="Times New Roman"/>
                <a:cs typeface="Times New Roman"/>
              </a:rPr>
              <a:t>and </a:t>
            </a:r>
            <a:r>
              <a:rPr lang="en-IN" sz="2800" dirty="0">
                <a:latin typeface="Times New Roman"/>
                <a:cs typeface="Times New Roman"/>
              </a:rPr>
              <a:t>makes </a:t>
            </a:r>
            <a:r>
              <a:rPr lang="en-IN" sz="2800" spc="5" dirty="0">
                <a:latin typeface="Times New Roman"/>
                <a:cs typeface="Times New Roman"/>
              </a:rPr>
              <a:t> </a:t>
            </a:r>
            <a:r>
              <a:rPr lang="en-IN" sz="2800" spc="-5" dirty="0">
                <a:latin typeface="Times New Roman"/>
                <a:cs typeface="Times New Roman"/>
              </a:rPr>
              <a:t>it</a:t>
            </a:r>
            <a:r>
              <a:rPr lang="en-IN" sz="2800" spc="-20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/>
                <a:cs typeface="Times New Roman"/>
              </a:rPr>
              <a:t>an</a:t>
            </a:r>
            <a:r>
              <a:rPr lang="en-IN" sz="2800" spc="-20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/>
                <a:cs typeface="Times New Roman"/>
              </a:rPr>
              <a:t>official</a:t>
            </a:r>
            <a:r>
              <a:rPr lang="en-IN" sz="2800" spc="-15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/>
                <a:cs typeface="Times New Roman"/>
              </a:rPr>
              <a:t>web</a:t>
            </a:r>
            <a:r>
              <a:rPr lang="en-IN" sz="2800" spc="-20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/>
                <a:cs typeface="Times New Roman"/>
              </a:rPr>
              <a:t>standard.</a:t>
            </a:r>
          </a:p>
        </p:txBody>
      </p:sp>
    </p:spTree>
    <p:extLst>
      <p:ext uri="{BB962C8B-B14F-4D97-AF65-F5344CB8AC3E}">
        <p14:creationId xmlns:p14="http://schemas.microsoft.com/office/powerpoint/2010/main" val="3702342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277" y="354340"/>
            <a:ext cx="7886700" cy="99417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What is AJAX </a:t>
            </a:r>
            <a:br>
              <a:rPr lang="en-US" b="1" dirty="0"/>
            </a:br>
            <a:r>
              <a:rPr lang="en-IN" sz="3000" spc="-4" dirty="0">
                <a:solidFill>
                  <a:srgbClr val="2E2B1F"/>
                </a:solidFill>
                <a:latin typeface="Calibri"/>
                <a:cs typeface="Calibri"/>
              </a:rPr>
              <a:t>AJAX</a:t>
            </a:r>
            <a:r>
              <a:rPr lang="en-IN" sz="30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lang="en-IN" sz="3000" dirty="0">
                <a:solidFill>
                  <a:srgbClr val="2E2B1F"/>
                </a:solidFill>
                <a:latin typeface="Calibri"/>
                <a:cs typeface="Calibri"/>
              </a:rPr>
              <a:t>= </a:t>
            </a:r>
            <a:r>
              <a:rPr lang="en-IN" sz="3000" b="1" spc="-8" dirty="0">
                <a:solidFill>
                  <a:srgbClr val="2E2B1F"/>
                </a:solidFill>
                <a:latin typeface="Calibri"/>
                <a:cs typeface="Calibri"/>
              </a:rPr>
              <a:t>A</a:t>
            </a:r>
            <a:r>
              <a:rPr lang="en-IN" sz="3000" spc="-8" dirty="0">
                <a:solidFill>
                  <a:srgbClr val="2E2B1F"/>
                </a:solidFill>
                <a:latin typeface="Calibri"/>
                <a:cs typeface="Calibri"/>
              </a:rPr>
              <a:t>synchronous</a:t>
            </a:r>
            <a:r>
              <a:rPr lang="en-IN" sz="3000" spc="-26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lang="en-IN" sz="3000" b="1" spc="-8" dirty="0">
                <a:solidFill>
                  <a:srgbClr val="2E2B1F"/>
                </a:solidFill>
                <a:latin typeface="Calibri"/>
                <a:cs typeface="Calibri"/>
              </a:rPr>
              <a:t>J</a:t>
            </a:r>
            <a:r>
              <a:rPr lang="en-IN" sz="3000" spc="-8" dirty="0">
                <a:solidFill>
                  <a:srgbClr val="2E2B1F"/>
                </a:solidFill>
                <a:latin typeface="Calibri"/>
                <a:cs typeface="Calibri"/>
              </a:rPr>
              <a:t>avaScript</a:t>
            </a:r>
            <a:r>
              <a:rPr lang="en-IN" sz="3000" spc="11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lang="en-IN" sz="3000" b="1" dirty="0">
                <a:solidFill>
                  <a:srgbClr val="2E2B1F"/>
                </a:solidFill>
                <a:latin typeface="Calibri"/>
                <a:cs typeface="Calibri"/>
              </a:rPr>
              <a:t>A</a:t>
            </a:r>
            <a:r>
              <a:rPr lang="en-IN" sz="3000" dirty="0">
                <a:solidFill>
                  <a:srgbClr val="2E2B1F"/>
                </a:solidFill>
                <a:latin typeface="Calibri"/>
                <a:cs typeface="Calibri"/>
              </a:rPr>
              <a:t>nd</a:t>
            </a:r>
            <a:r>
              <a:rPr lang="en-IN" sz="30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lang="en-IN" sz="3000" b="1" dirty="0">
                <a:solidFill>
                  <a:srgbClr val="2E2B1F"/>
                </a:solidFill>
                <a:latin typeface="Calibri"/>
                <a:cs typeface="Calibri"/>
              </a:rPr>
              <a:t>X</a:t>
            </a:r>
            <a:r>
              <a:rPr lang="en-IN" sz="3000" dirty="0">
                <a:solidFill>
                  <a:srgbClr val="2E2B1F"/>
                </a:solidFill>
                <a:latin typeface="Calibri"/>
                <a:cs typeface="Calibri"/>
              </a:rPr>
              <a:t>ML.</a:t>
            </a:r>
            <a:r>
              <a:rPr lang="en-IN" sz="3300" dirty="0">
                <a:latin typeface="Calibri"/>
                <a:cs typeface="Calibri"/>
              </a:rPr>
              <a:t/>
            </a:r>
            <a:br>
              <a:rPr lang="en-IN" sz="3300" dirty="0">
                <a:latin typeface="Calibri"/>
                <a:cs typeface="Calibri"/>
              </a:rPr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8277" y="1905000"/>
            <a:ext cx="6586946" cy="19594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36443" r="5058" b="23865"/>
          <a:stretch/>
        </p:blipFill>
        <p:spPr>
          <a:xfrm>
            <a:off x="530197" y="4284284"/>
            <a:ext cx="8342861" cy="1225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74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2975" y="420981"/>
            <a:ext cx="6213158" cy="686246"/>
          </a:xfrm>
          <a:prstGeom prst="rect">
            <a:avLst/>
          </a:prstGeom>
        </p:spPr>
        <p:txBody>
          <a:bodyPr vert="horz" wrap="square" lIns="0" tIns="904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1"/>
              </a:spcBef>
            </a:pPr>
            <a:r>
              <a:rPr b="1" spc="-101" dirty="0"/>
              <a:t>A</a:t>
            </a:r>
            <a:r>
              <a:rPr b="1" spc="-153" dirty="0"/>
              <a:t>J</a:t>
            </a:r>
            <a:r>
              <a:rPr b="1" spc="-75" dirty="0"/>
              <a:t>A</a:t>
            </a:r>
            <a:r>
              <a:rPr b="1" spc="-4" dirty="0"/>
              <a:t>X</a:t>
            </a:r>
            <a:r>
              <a:rPr b="1" spc="-165" dirty="0"/>
              <a:t> </a:t>
            </a:r>
            <a:r>
              <a:rPr b="1" spc="-4" dirty="0"/>
              <a:t>-</a:t>
            </a:r>
            <a:r>
              <a:rPr b="1" spc="-150" dirty="0"/>
              <a:t> </a:t>
            </a:r>
            <a:r>
              <a:rPr b="1" spc="-356" dirty="0"/>
              <a:t>T</a:t>
            </a:r>
            <a:r>
              <a:rPr b="1" spc="-79" dirty="0"/>
              <a:t>ech</a:t>
            </a:r>
            <a:r>
              <a:rPr b="1" spc="-75" dirty="0"/>
              <a:t>n</a:t>
            </a:r>
            <a:r>
              <a:rPr b="1" spc="-79" dirty="0"/>
              <a:t>o</a:t>
            </a:r>
            <a:r>
              <a:rPr b="1" spc="-75" dirty="0"/>
              <a:t>l</a:t>
            </a:r>
            <a:r>
              <a:rPr b="1" spc="-79" dirty="0"/>
              <a:t>og</a:t>
            </a:r>
            <a:r>
              <a:rPr b="1" spc="-83" dirty="0"/>
              <a:t>i</a:t>
            </a:r>
            <a:r>
              <a:rPr b="1" spc="-79" dirty="0"/>
              <a:t>e</a:t>
            </a:r>
            <a:r>
              <a:rPr b="1" spc="-4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828800"/>
            <a:ext cx="7286625" cy="4437016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180975" indent="-171450">
              <a:lnSpc>
                <a:spcPts val="1883"/>
              </a:lnSpc>
              <a:spcBef>
                <a:spcPts val="71"/>
              </a:spcBef>
              <a:buClr>
                <a:srgbClr val="A9A47B"/>
              </a:buClr>
              <a:buFont typeface="Arial MT"/>
              <a:buChar char="•"/>
              <a:tabLst>
                <a:tab pos="180499" algn="l"/>
                <a:tab pos="180975" algn="l"/>
              </a:tabLst>
            </a:pPr>
            <a:r>
              <a:rPr sz="2000" spc="-8" dirty="0">
                <a:solidFill>
                  <a:srgbClr val="2E2B1F"/>
                </a:solidFill>
                <a:latin typeface="Calibri"/>
                <a:cs typeface="Calibri"/>
              </a:rPr>
              <a:t>AJAX</a:t>
            </a:r>
            <a:r>
              <a:rPr sz="2000" spc="11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8" dirty="0">
                <a:solidFill>
                  <a:srgbClr val="2E2B1F"/>
                </a:solidFill>
                <a:latin typeface="Calibri"/>
                <a:cs typeface="Calibri"/>
              </a:rPr>
              <a:t>cannot</a:t>
            </a: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 work</a:t>
            </a:r>
            <a:r>
              <a:rPr sz="2000" spc="8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1" dirty="0">
                <a:solidFill>
                  <a:srgbClr val="2E2B1F"/>
                </a:solidFill>
                <a:latin typeface="Calibri"/>
                <a:cs typeface="Calibri"/>
              </a:rPr>
              <a:t>independently.</a:t>
            </a:r>
            <a:r>
              <a:rPr sz="20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It</a:t>
            </a:r>
            <a:r>
              <a:rPr sz="2000" spc="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is</a:t>
            </a:r>
            <a:r>
              <a:rPr sz="2000" spc="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8" dirty="0">
                <a:solidFill>
                  <a:srgbClr val="2E2B1F"/>
                </a:solidFill>
                <a:latin typeface="Calibri"/>
                <a:cs typeface="Calibri"/>
              </a:rPr>
              <a:t>used</a:t>
            </a:r>
            <a:r>
              <a:rPr sz="2000" spc="8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in</a:t>
            </a:r>
            <a:r>
              <a:rPr sz="2000" spc="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8" dirty="0">
                <a:solidFill>
                  <a:srgbClr val="2E2B1F"/>
                </a:solidFill>
                <a:latin typeface="Calibri"/>
                <a:cs typeface="Calibri"/>
              </a:rPr>
              <a:t>combination</a:t>
            </a:r>
            <a:endParaRPr sz="2000" dirty="0">
              <a:latin typeface="Calibri"/>
              <a:cs typeface="Calibri"/>
            </a:endParaRPr>
          </a:p>
          <a:p>
            <a:pPr marL="180975">
              <a:lnSpc>
                <a:spcPts val="1883"/>
              </a:lnSpc>
            </a:pP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with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other</a:t>
            </a:r>
            <a:r>
              <a:rPr sz="2000" spc="8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technologies</a:t>
            </a:r>
            <a:r>
              <a:rPr sz="2000" spc="23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2E2B1F"/>
                </a:solidFill>
                <a:latin typeface="Calibri"/>
                <a:cs typeface="Calibri"/>
              </a:rPr>
              <a:t>to</a:t>
            </a:r>
            <a:r>
              <a:rPr sz="2000" spc="8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1" dirty="0">
                <a:solidFill>
                  <a:srgbClr val="2E2B1F"/>
                </a:solidFill>
                <a:latin typeface="Calibri"/>
                <a:cs typeface="Calibri"/>
              </a:rPr>
              <a:t>create</a:t>
            </a:r>
            <a:r>
              <a:rPr sz="2000" spc="8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1" dirty="0">
                <a:solidFill>
                  <a:srgbClr val="2E2B1F"/>
                </a:solidFill>
                <a:latin typeface="Calibri"/>
                <a:cs typeface="Calibri"/>
              </a:rPr>
              <a:t>interactive</a:t>
            </a:r>
            <a:r>
              <a:rPr sz="20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8" dirty="0">
                <a:solidFill>
                  <a:srgbClr val="2E2B1F"/>
                </a:solidFill>
                <a:latin typeface="Calibri"/>
                <a:cs typeface="Calibri"/>
              </a:rPr>
              <a:t>webpages.</a:t>
            </a:r>
            <a:endParaRPr sz="2000" dirty="0">
              <a:latin typeface="Calibri"/>
              <a:cs typeface="Calibri"/>
            </a:endParaRPr>
          </a:p>
          <a:p>
            <a:pPr marL="180975" indent="-171450">
              <a:spcBef>
                <a:spcPts val="199"/>
              </a:spcBef>
              <a:buClr>
                <a:srgbClr val="A9A47B"/>
              </a:buClr>
              <a:buFont typeface="Arial MT"/>
              <a:buChar char="•"/>
              <a:tabLst>
                <a:tab pos="180499" algn="l"/>
                <a:tab pos="180975" algn="l"/>
              </a:tabLst>
            </a:pPr>
            <a:r>
              <a:rPr sz="2000" b="1" spc="-8" dirty="0">
                <a:solidFill>
                  <a:srgbClr val="2E2B1F"/>
                </a:solidFill>
                <a:latin typeface="Calibri"/>
                <a:cs typeface="Calibri"/>
              </a:rPr>
              <a:t>JavaScript</a:t>
            </a:r>
            <a:endParaRPr sz="2000" dirty="0">
              <a:latin typeface="Calibri"/>
              <a:cs typeface="Calibri"/>
            </a:endParaRPr>
          </a:p>
          <a:p>
            <a:pPr marL="403860" lvl="1" indent="-172403">
              <a:spcBef>
                <a:spcPts val="188"/>
              </a:spcBef>
              <a:buClr>
                <a:srgbClr val="9CBDBC"/>
              </a:buClr>
              <a:buFont typeface="Arial MT"/>
              <a:buChar char="•"/>
              <a:tabLst>
                <a:tab pos="403860" algn="l"/>
                <a:tab pos="404336" algn="l"/>
              </a:tabLst>
            </a:pP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Loosely</a:t>
            </a:r>
            <a:r>
              <a:rPr sz="20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typed</a:t>
            </a:r>
            <a:r>
              <a:rPr sz="2000" spc="-19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scripting</a:t>
            </a:r>
            <a:r>
              <a:rPr sz="2000" spc="-8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language.</a:t>
            </a:r>
            <a:endParaRPr sz="2000" dirty="0">
              <a:latin typeface="Calibri"/>
              <a:cs typeface="Calibri"/>
            </a:endParaRPr>
          </a:p>
          <a:p>
            <a:pPr marL="403860" lvl="1" indent="-172403">
              <a:spcBef>
                <a:spcPts val="180"/>
              </a:spcBef>
              <a:buClr>
                <a:srgbClr val="9CBDBC"/>
              </a:buClr>
              <a:buFont typeface="Arial MT"/>
              <a:buChar char="•"/>
              <a:tabLst>
                <a:tab pos="403860" algn="l"/>
                <a:tab pos="404336" algn="l"/>
              </a:tabLst>
            </a:pPr>
            <a:r>
              <a:rPr sz="2000" spc="-8" dirty="0">
                <a:solidFill>
                  <a:srgbClr val="2E2B1F"/>
                </a:solidFill>
                <a:latin typeface="Calibri"/>
                <a:cs typeface="Calibri"/>
              </a:rPr>
              <a:t>JavaScript</a:t>
            </a:r>
            <a:r>
              <a:rPr sz="2000" spc="8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function</a:t>
            </a:r>
            <a:r>
              <a:rPr sz="20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is</a:t>
            </a:r>
            <a:r>
              <a:rPr sz="2000" spc="-8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called</a:t>
            </a:r>
            <a:r>
              <a:rPr sz="20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when</a:t>
            </a:r>
            <a:r>
              <a:rPr sz="20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an </a:t>
            </a:r>
            <a:r>
              <a:rPr sz="2000" spc="-11" dirty="0">
                <a:solidFill>
                  <a:srgbClr val="2E2B1F"/>
                </a:solidFill>
                <a:latin typeface="Calibri"/>
                <a:cs typeface="Calibri"/>
              </a:rPr>
              <a:t>event</a:t>
            </a:r>
            <a:r>
              <a:rPr sz="2000" spc="11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8" dirty="0">
                <a:solidFill>
                  <a:srgbClr val="2E2B1F"/>
                </a:solidFill>
                <a:latin typeface="Calibri"/>
                <a:cs typeface="Calibri"/>
              </a:rPr>
              <a:t>occurs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in</a:t>
            </a:r>
            <a:r>
              <a:rPr sz="2000" spc="-8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a</a:t>
            </a:r>
            <a:r>
              <a:rPr sz="2000" spc="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page.</a:t>
            </a:r>
            <a:endParaRPr sz="2000" dirty="0">
              <a:latin typeface="Calibri"/>
              <a:cs typeface="Calibri"/>
            </a:endParaRPr>
          </a:p>
          <a:p>
            <a:pPr marL="403860" lvl="1" indent="-172403">
              <a:spcBef>
                <a:spcPts val="180"/>
              </a:spcBef>
              <a:buClr>
                <a:srgbClr val="9CBDBC"/>
              </a:buClr>
              <a:buFont typeface="Arial MT"/>
              <a:buChar char="•"/>
              <a:tabLst>
                <a:tab pos="403860" algn="l"/>
                <a:tab pos="404336" algn="l"/>
              </a:tabLst>
            </a:pP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Glue</a:t>
            </a:r>
            <a:r>
              <a:rPr sz="2000" spc="-8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1" dirty="0">
                <a:solidFill>
                  <a:srgbClr val="2E2B1F"/>
                </a:solidFill>
                <a:latin typeface="Calibri"/>
                <a:cs typeface="Calibri"/>
              </a:rPr>
              <a:t>for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the</a:t>
            </a: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whole</a:t>
            </a:r>
            <a:r>
              <a:rPr sz="2000" spc="-11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AJAX </a:t>
            </a:r>
            <a:r>
              <a:rPr sz="2000" spc="-8" dirty="0">
                <a:solidFill>
                  <a:srgbClr val="2E2B1F"/>
                </a:solidFill>
                <a:latin typeface="Calibri"/>
                <a:cs typeface="Calibri"/>
              </a:rPr>
              <a:t>operation.</a:t>
            </a:r>
            <a:endParaRPr sz="2000" dirty="0">
              <a:latin typeface="Calibri"/>
              <a:cs typeface="Calibri"/>
            </a:endParaRPr>
          </a:p>
          <a:p>
            <a:pPr marL="180975" indent="-171450">
              <a:spcBef>
                <a:spcPts val="191"/>
              </a:spcBef>
              <a:buClr>
                <a:srgbClr val="A9A47B"/>
              </a:buClr>
              <a:buFont typeface="Arial MT"/>
              <a:buChar char="•"/>
              <a:tabLst>
                <a:tab pos="180499" algn="l"/>
                <a:tab pos="180975" algn="l"/>
              </a:tabLst>
            </a:pPr>
            <a:r>
              <a:rPr sz="2000" b="1" spc="-8" dirty="0">
                <a:solidFill>
                  <a:srgbClr val="2E2B1F"/>
                </a:solidFill>
                <a:latin typeface="Calibri"/>
                <a:cs typeface="Calibri"/>
              </a:rPr>
              <a:t>DOM</a:t>
            </a:r>
            <a:endParaRPr sz="2000" dirty="0">
              <a:latin typeface="Calibri"/>
              <a:cs typeface="Calibri"/>
            </a:endParaRPr>
          </a:p>
          <a:p>
            <a:pPr marL="403860" lvl="1" indent="-172403">
              <a:spcBef>
                <a:spcPts val="188"/>
              </a:spcBef>
              <a:buClr>
                <a:srgbClr val="9CBDBC"/>
              </a:buClr>
              <a:buFont typeface="Arial MT"/>
              <a:buChar char="•"/>
              <a:tabLst>
                <a:tab pos="403860" algn="l"/>
                <a:tab pos="404336" algn="l"/>
              </a:tabLst>
            </a:pP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API</a:t>
            </a:r>
            <a:r>
              <a:rPr sz="2000" spc="-8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1" dirty="0">
                <a:solidFill>
                  <a:srgbClr val="2E2B1F"/>
                </a:solidFill>
                <a:latin typeface="Calibri"/>
                <a:cs typeface="Calibri"/>
              </a:rPr>
              <a:t>for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accessing</a:t>
            </a:r>
            <a:r>
              <a:rPr sz="2000" spc="11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and</a:t>
            </a:r>
            <a:r>
              <a:rPr sz="2000" spc="-11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manipulating</a:t>
            </a:r>
            <a:r>
              <a:rPr sz="2000" spc="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structured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documents.</a:t>
            </a:r>
            <a:endParaRPr sz="2000" dirty="0">
              <a:latin typeface="Calibri"/>
              <a:cs typeface="Calibri"/>
            </a:endParaRPr>
          </a:p>
          <a:p>
            <a:pPr marL="403860" lvl="1" indent="-172403">
              <a:spcBef>
                <a:spcPts val="180"/>
              </a:spcBef>
              <a:buClr>
                <a:srgbClr val="9CBDBC"/>
              </a:buClr>
              <a:buFont typeface="Arial MT"/>
              <a:buChar char="•"/>
              <a:tabLst>
                <a:tab pos="403860" algn="l"/>
                <a:tab pos="404336" algn="l"/>
              </a:tabLst>
            </a:pPr>
            <a:r>
              <a:rPr sz="2000" spc="-8" dirty="0">
                <a:solidFill>
                  <a:srgbClr val="2E2B1F"/>
                </a:solidFill>
                <a:latin typeface="Calibri"/>
                <a:cs typeface="Calibri"/>
              </a:rPr>
              <a:t>Represents</a:t>
            </a:r>
            <a:r>
              <a:rPr sz="2000" spc="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the </a:t>
            </a: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structure of</a:t>
            </a:r>
            <a:r>
              <a:rPr sz="2000" spc="-8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XML</a:t>
            </a:r>
            <a:r>
              <a:rPr sz="2000" spc="-11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and</a:t>
            </a:r>
            <a:r>
              <a:rPr sz="20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HTML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documents.</a:t>
            </a:r>
            <a:endParaRPr sz="2000" dirty="0">
              <a:latin typeface="Calibri"/>
              <a:cs typeface="Calibri"/>
            </a:endParaRPr>
          </a:p>
          <a:p>
            <a:pPr marL="180975" indent="-171450">
              <a:spcBef>
                <a:spcPts val="191"/>
              </a:spcBef>
              <a:buClr>
                <a:srgbClr val="A9A47B"/>
              </a:buClr>
              <a:buFont typeface="Arial MT"/>
              <a:buChar char="•"/>
              <a:tabLst>
                <a:tab pos="180499" algn="l"/>
                <a:tab pos="180975" algn="l"/>
              </a:tabLst>
            </a:pPr>
            <a:r>
              <a:rPr sz="2000" b="1" spc="-4" dirty="0">
                <a:solidFill>
                  <a:srgbClr val="2E2B1F"/>
                </a:solidFill>
                <a:latin typeface="Calibri"/>
                <a:cs typeface="Calibri"/>
              </a:rPr>
              <a:t>CSS</a:t>
            </a:r>
            <a:endParaRPr sz="2000" dirty="0">
              <a:latin typeface="Calibri"/>
              <a:cs typeface="Calibri"/>
            </a:endParaRPr>
          </a:p>
          <a:p>
            <a:pPr marL="403860" lvl="1" indent="-181928">
              <a:lnSpc>
                <a:spcPts val="1710"/>
              </a:lnSpc>
              <a:spcBef>
                <a:spcPts val="188"/>
              </a:spcBef>
              <a:buClr>
                <a:srgbClr val="9CBDBC"/>
              </a:buClr>
              <a:buFont typeface="Arial MT"/>
              <a:buChar char="•"/>
              <a:tabLst>
                <a:tab pos="394335" algn="l"/>
                <a:tab pos="404336" algn="l"/>
              </a:tabLst>
            </a:pP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Allows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1" dirty="0">
                <a:solidFill>
                  <a:srgbClr val="2E2B1F"/>
                </a:solidFill>
                <a:latin typeface="Calibri"/>
                <a:cs typeface="Calibri"/>
              </a:rPr>
              <a:t>for</a:t>
            </a:r>
            <a:r>
              <a:rPr sz="20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a</a:t>
            </a:r>
            <a:r>
              <a:rPr sz="2000" spc="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clear </a:t>
            </a:r>
            <a:r>
              <a:rPr sz="2000" spc="-8" dirty="0">
                <a:solidFill>
                  <a:srgbClr val="2E2B1F"/>
                </a:solidFill>
                <a:latin typeface="Calibri"/>
                <a:cs typeface="Calibri"/>
              </a:rPr>
              <a:t>separation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of</a:t>
            </a: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the </a:t>
            </a:r>
            <a:r>
              <a:rPr sz="2000" spc="-8" dirty="0">
                <a:solidFill>
                  <a:srgbClr val="2E2B1F"/>
                </a:solidFill>
                <a:latin typeface="Calibri"/>
                <a:cs typeface="Calibri"/>
              </a:rPr>
              <a:t>presentation</a:t>
            </a:r>
            <a:r>
              <a:rPr sz="2000" spc="11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style</a:t>
            </a:r>
            <a:r>
              <a:rPr sz="2000" spc="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1" dirty="0">
                <a:solidFill>
                  <a:srgbClr val="2E2B1F"/>
                </a:solidFill>
                <a:latin typeface="Calibri"/>
                <a:cs typeface="Calibri"/>
              </a:rPr>
              <a:t>from</a:t>
            </a:r>
            <a:r>
              <a:rPr sz="2000" spc="-8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the</a:t>
            </a:r>
            <a:r>
              <a:rPr lang="en-IN"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endParaRPr sz="2000" dirty="0">
              <a:latin typeface="Calibri"/>
              <a:cs typeface="Calibri"/>
            </a:endParaRPr>
          </a:p>
          <a:p>
            <a:pPr marL="215265" algn="ctr">
              <a:lnSpc>
                <a:spcPts val="1710"/>
              </a:lnSpc>
            </a:pPr>
            <a:r>
              <a:rPr sz="2000" spc="-11" dirty="0">
                <a:solidFill>
                  <a:srgbClr val="2E2B1F"/>
                </a:solidFill>
                <a:latin typeface="Calibri"/>
                <a:cs typeface="Calibri"/>
              </a:rPr>
              <a:t>content</a:t>
            </a:r>
            <a:r>
              <a:rPr sz="2000" spc="-8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and </a:t>
            </a:r>
            <a:r>
              <a:rPr sz="2000" spc="-11" dirty="0">
                <a:solidFill>
                  <a:srgbClr val="2E2B1F"/>
                </a:solidFill>
                <a:latin typeface="Calibri"/>
                <a:cs typeface="Calibri"/>
              </a:rPr>
              <a:t>may</a:t>
            </a:r>
            <a:r>
              <a:rPr sz="2000" spc="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be</a:t>
            </a:r>
            <a:r>
              <a:rPr sz="2000" spc="-8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changed</a:t>
            </a:r>
            <a:r>
              <a:rPr sz="20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8" dirty="0">
                <a:solidFill>
                  <a:srgbClr val="2E2B1F"/>
                </a:solidFill>
                <a:latin typeface="Calibri"/>
                <a:cs typeface="Calibri"/>
              </a:rPr>
              <a:t>programmatically</a:t>
            </a:r>
            <a:r>
              <a:rPr sz="2000" spc="8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by</a:t>
            </a:r>
            <a:r>
              <a:rPr sz="2000" spc="-8" dirty="0">
                <a:solidFill>
                  <a:srgbClr val="2E2B1F"/>
                </a:solidFill>
                <a:latin typeface="Calibri"/>
                <a:cs typeface="Calibri"/>
              </a:rPr>
              <a:t> JavaScript</a:t>
            </a:r>
            <a:endParaRPr sz="2000" dirty="0">
              <a:latin typeface="Calibri"/>
              <a:cs typeface="Calibri"/>
            </a:endParaRPr>
          </a:p>
          <a:p>
            <a:pPr marL="180975" indent="-171450">
              <a:spcBef>
                <a:spcPts val="191"/>
              </a:spcBef>
              <a:buClr>
                <a:srgbClr val="A9A47B"/>
              </a:buClr>
              <a:buFont typeface="Arial MT"/>
              <a:buChar char="•"/>
              <a:tabLst>
                <a:tab pos="180499" algn="l"/>
                <a:tab pos="180975" algn="l"/>
              </a:tabLst>
            </a:pPr>
            <a:r>
              <a:rPr sz="2000" b="1" spc="-11" dirty="0">
                <a:solidFill>
                  <a:srgbClr val="2E2B1F"/>
                </a:solidFill>
                <a:latin typeface="Calibri"/>
                <a:cs typeface="Calibri"/>
              </a:rPr>
              <a:t>XMLHttpRequest</a:t>
            </a:r>
            <a:endParaRPr sz="2000" dirty="0">
              <a:latin typeface="Calibri"/>
              <a:cs typeface="Calibri"/>
            </a:endParaRPr>
          </a:p>
          <a:p>
            <a:pPr marL="403860" marR="60960" lvl="1" indent="-171926">
              <a:lnSpc>
                <a:spcPts val="1620"/>
              </a:lnSpc>
              <a:spcBef>
                <a:spcPts val="390"/>
              </a:spcBef>
              <a:buClr>
                <a:srgbClr val="9CBDBC"/>
              </a:buClr>
              <a:buFont typeface="Arial MT"/>
              <a:buChar char="•"/>
              <a:tabLst>
                <a:tab pos="403860" algn="l"/>
                <a:tab pos="404336" algn="l"/>
              </a:tabLst>
            </a:pPr>
            <a:r>
              <a:rPr sz="2000" spc="-8" dirty="0">
                <a:solidFill>
                  <a:srgbClr val="2E2B1F"/>
                </a:solidFill>
                <a:latin typeface="Calibri"/>
                <a:cs typeface="Calibri"/>
              </a:rPr>
              <a:t>JavaScript</a:t>
            </a:r>
            <a:r>
              <a:rPr sz="20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object</a:t>
            </a:r>
            <a:r>
              <a:rPr sz="2000" spc="-8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that</a:t>
            </a:r>
            <a:r>
              <a:rPr sz="2000" spc="8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performs</a:t>
            </a:r>
            <a:r>
              <a:rPr sz="2000" spc="11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8" dirty="0">
                <a:solidFill>
                  <a:srgbClr val="2E2B1F"/>
                </a:solidFill>
                <a:latin typeface="Calibri"/>
                <a:cs typeface="Calibri"/>
              </a:rPr>
              <a:t>asynchronous</a:t>
            </a:r>
            <a:r>
              <a:rPr sz="2000" spc="-11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8" dirty="0">
                <a:solidFill>
                  <a:srgbClr val="2E2B1F"/>
                </a:solidFill>
                <a:latin typeface="Calibri"/>
                <a:cs typeface="Calibri"/>
              </a:rPr>
              <a:t>interaction</a:t>
            </a:r>
            <a:r>
              <a:rPr sz="2000" spc="11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with </a:t>
            </a:r>
            <a:r>
              <a:rPr sz="2000" spc="-326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the</a:t>
            </a:r>
            <a:r>
              <a:rPr sz="2000" spc="-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26" dirty="0">
                <a:solidFill>
                  <a:srgbClr val="2E2B1F"/>
                </a:solidFill>
                <a:latin typeface="Calibri"/>
                <a:cs typeface="Calibri"/>
              </a:rPr>
              <a:t>server.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6549" t="7225"/>
          <a:stretch/>
        </p:blipFill>
        <p:spPr>
          <a:xfrm>
            <a:off x="271463" y="2346589"/>
            <a:ext cx="4029075" cy="24169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4872"/>
          <a:stretch/>
        </p:blipFill>
        <p:spPr>
          <a:xfrm>
            <a:off x="4400550" y="2301780"/>
            <a:ext cx="4572000" cy="2461713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xmlns="" id="{B8825FB8-95E5-4BCE-9400-4B2EFF5E15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8157" y="304507"/>
            <a:ext cx="8394393" cy="686246"/>
          </a:xfrm>
          <a:prstGeom prst="rect">
            <a:avLst/>
          </a:prstGeom>
        </p:spPr>
        <p:txBody>
          <a:bodyPr vert="horz" wrap="square" lIns="0" tIns="904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1"/>
              </a:spcBef>
            </a:pPr>
            <a:r>
              <a:rPr lang="en-IN" spc="-101" dirty="0"/>
              <a:t>Traditional vs. AJAX Web Application</a:t>
            </a:r>
            <a:endParaRPr spc="-4" dirty="0"/>
          </a:p>
        </p:txBody>
      </p:sp>
    </p:spTree>
    <p:extLst>
      <p:ext uri="{BB962C8B-B14F-4D97-AF65-F5344CB8AC3E}">
        <p14:creationId xmlns:p14="http://schemas.microsoft.com/office/powerpoint/2010/main" val="2691622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3575" r="5994" b="21520"/>
          <a:stretch/>
        </p:blipFill>
        <p:spPr>
          <a:xfrm>
            <a:off x="316487" y="1850230"/>
            <a:ext cx="8827513" cy="272177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xmlns="" id="{8687D344-681A-4C8D-ADC5-4A118B318E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6108393" cy="686246"/>
          </a:xfrm>
          <a:prstGeom prst="rect">
            <a:avLst/>
          </a:prstGeom>
        </p:spPr>
        <p:txBody>
          <a:bodyPr vert="horz" wrap="square" lIns="0" tIns="904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1"/>
              </a:spcBef>
            </a:pPr>
            <a:r>
              <a:rPr lang="en-IN" b="1" spc="-101" dirty="0"/>
              <a:t>Why use AJAX</a:t>
            </a:r>
            <a:endParaRPr b="1" spc="-4" dirty="0"/>
          </a:p>
        </p:txBody>
      </p:sp>
    </p:spTree>
    <p:extLst>
      <p:ext uri="{BB962C8B-B14F-4D97-AF65-F5344CB8AC3E}">
        <p14:creationId xmlns:p14="http://schemas.microsoft.com/office/powerpoint/2010/main" val="2340268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30390"/>
          <a:stretch/>
        </p:blipFill>
        <p:spPr>
          <a:xfrm>
            <a:off x="339693" y="1863090"/>
            <a:ext cx="8578737" cy="29598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837" y="3797500"/>
            <a:ext cx="1392152" cy="12997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25664"/>
          <a:stretch/>
        </p:blipFill>
        <p:spPr>
          <a:xfrm>
            <a:off x="354933" y="2253615"/>
            <a:ext cx="8355122" cy="3145979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xmlns="" id="{82FEA59D-9178-40EC-B4A8-75688E1006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404902"/>
            <a:ext cx="6108393" cy="686246"/>
          </a:xfrm>
          <a:prstGeom prst="rect">
            <a:avLst/>
          </a:prstGeom>
        </p:spPr>
        <p:txBody>
          <a:bodyPr vert="horz" wrap="square" lIns="0" tIns="904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1"/>
              </a:spcBef>
            </a:pPr>
            <a:r>
              <a:rPr lang="en-IN" b="1" spc="-101" dirty="0"/>
              <a:t>How it works</a:t>
            </a:r>
            <a:endParaRPr b="1" spc="-4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CDE7752-6771-4E6C-B8F9-22E3D89D483A}"/>
              </a:ext>
            </a:extLst>
          </p:cNvPr>
          <p:cNvSpPr txBox="1"/>
          <p:nvPr/>
        </p:nvSpPr>
        <p:spPr>
          <a:xfrm>
            <a:off x="624840" y="5122594"/>
            <a:ext cx="4572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50" dirty="0" err="1"/>
              <a:t>Youtbe</a:t>
            </a:r>
            <a:r>
              <a:rPr lang="en-IN" sz="1350" dirty="0"/>
              <a:t> Ref: </a:t>
            </a:r>
            <a:r>
              <a:rPr lang="en-IN" sz="1350"/>
              <a:t>CodewithHarry</a:t>
            </a:r>
            <a:r>
              <a:rPr lang="en-IN" sz="1350" dirty="0"/>
              <a:t> :https://youtu.be/FJZEVmF3eDg</a:t>
            </a:r>
          </a:p>
        </p:txBody>
      </p:sp>
    </p:spTree>
    <p:extLst>
      <p:ext uri="{BB962C8B-B14F-4D97-AF65-F5344CB8AC3E}">
        <p14:creationId xmlns:p14="http://schemas.microsoft.com/office/powerpoint/2010/main" val="671032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338554"/>
            <a:ext cx="5105400" cy="686246"/>
          </a:xfrm>
          <a:prstGeom prst="rect">
            <a:avLst/>
          </a:prstGeom>
        </p:spPr>
        <p:txBody>
          <a:bodyPr vert="horz" wrap="square" lIns="0" tIns="904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1"/>
              </a:spcBef>
            </a:pPr>
            <a:r>
              <a:rPr b="1" spc="-75" dirty="0"/>
              <a:t>H</a:t>
            </a:r>
            <a:r>
              <a:rPr b="1" spc="-98" dirty="0"/>
              <a:t>o</a:t>
            </a:r>
            <a:r>
              <a:rPr b="1" spc="-4" dirty="0"/>
              <a:t>w</a:t>
            </a:r>
            <a:r>
              <a:rPr b="1" spc="-146" dirty="0"/>
              <a:t> </a:t>
            </a:r>
            <a:r>
              <a:rPr b="1" spc="-101" dirty="0"/>
              <a:t>A</a:t>
            </a:r>
            <a:r>
              <a:rPr b="1" spc="-153" dirty="0"/>
              <a:t>J</a:t>
            </a:r>
            <a:r>
              <a:rPr b="1" spc="-75" dirty="0"/>
              <a:t>A</a:t>
            </a:r>
            <a:r>
              <a:rPr b="1" spc="-4" dirty="0"/>
              <a:t>X</a:t>
            </a:r>
            <a:r>
              <a:rPr b="1" spc="-165" dirty="0"/>
              <a:t> </a:t>
            </a:r>
            <a:r>
              <a:rPr b="1" spc="-274" dirty="0"/>
              <a:t>W</a:t>
            </a:r>
            <a:r>
              <a:rPr b="1" spc="-79" dirty="0"/>
              <a:t>o</a:t>
            </a:r>
            <a:r>
              <a:rPr b="1" spc="-101" dirty="0"/>
              <a:t>r</a:t>
            </a:r>
            <a:r>
              <a:rPr b="1" spc="-105" dirty="0"/>
              <a:t>k</a:t>
            </a:r>
            <a:r>
              <a:rPr b="1" spc="-4" dirty="0"/>
              <a:t>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1828800"/>
            <a:ext cx="6269832" cy="433906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6652" y="304800"/>
            <a:ext cx="5949791" cy="686246"/>
          </a:xfrm>
          <a:prstGeom prst="rect">
            <a:avLst/>
          </a:prstGeom>
        </p:spPr>
        <p:txBody>
          <a:bodyPr vert="horz" wrap="square" lIns="0" tIns="904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1"/>
              </a:spcBef>
            </a:pPr>
            <a:r>
              <a:rPr b="1" spc="-101" dirty="0"/>
              <a:t>A</a:t>
            </a:r>
            <a:r>
              <a:rPr b="1" spc="-153" dirty="0"/>
              <a:t>J</a:t>
            </a:r>
            <a:r>
              <a:rPr b="1" spc="-75" dirty="0"/>
              <a:t>A</a:t>
            </a:r>
            <a:r>
              <a:rPr b="1" spc="-4" dirty="0"/>
              <a:t>X</a:t>
            </a:r>
            <a:r>
              <a:rPr b="1" spc="-165" dirty="0"/>
              <a:t> </a:t>
            </a:r>
            <a:r>
              <a:rPr b="1" spc="-75" dirty="0"/>
              <a:t>P</a:t>
            </a:r>
            <a:r>
              <a:rPr b="1" spc="-135" dirty="0"/>
              <a:t>r</a:t>
            </a:r>
            <a:r>
              <a:rPr b="1" spc="-79" dirty="0"/>
              <a:t>oce</a:t>
            </a:r>
            <a:r>
              <a:rPr b="1" spc="-75" dirty="0"/>
              <a:t>ss</a:t>
            </a:r>
            <a:r>
              <a:rPr b="1" spc="-83" dirty="0"/>
              <a:t>i</a:t>
            </a:r>
            <a:r>
              <a:rPr b="1" spc="-75" dirty="0"/>
              <a:t>n</a:t>
            </a:r>
            <a:r>
              <a:rPr b="1" spc="-4" dirty="0"/>
              <a:t>g</a:t>
            </a:r>
            <a:r>
              <a:rPr b="1" spc="-176" dirty="0"/>
              <a:t> </a:t>
            </a:r>
            <a:r>
              <a:rPr b="1" spc="-79" dirty="0"/>
              <a:t>S</a:t>
            </a:r>
            <a:r>
              <a:rPr b="1" spc="-101" dirty="0"/>
              <a:t>t</a:t>
            </a:r>
            <a:r>
              <a:rPr b="1" spc="-79" dirty="0"/>
              <a:t>ep</a:t>
            </a:r>
            <a:r>
              <a:rPr b="1" spc="-4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3409" y="1919479"/>
            <a:ext cx="8540591" cy="3650358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9525">
              <a:spcBef>
                <a:spcPts val="465"/>
              </a:spcBef>
              <a:buClr>
                <a:srgbClr val="A9A47B"/>
              </a:buClr>
              <a:tabLst>
                <a:tab pos="180499" algn="l"/>
                <a:tab pos="180975" algn="l"/>
              </a:tabLst>
            </a:pPr>
            <a:r>
              <a:rPr sz="2100" b="1" spc="-11" dirty="0">
                <a:solidFill>
                  <a:srgbClr val="2E2B1F"/>
                </a:solidFill>
                <a:latin typeface="Calibri"/>
                <a:cs typeface="Calibri"/>
              </a:rPr>
              <a:t>Steps</a:t>
            </a:r>
            <a:r>
              <a:rPr sz="2100" b="1" spc="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b="1" spc="-4" dirty="0">
                <a:solidFill>
                  <a:srgbClr val="2E2B1F"/>
                </a:solidFill>
                <a:latin typeface="Calibri"/>
                <a:cs typeface="Calibri"/>
              </a:rPr>
              <a:t>of</a:t>
            </a:r>
            <a:r>
              <a:rPr sz="2100" b="1" spc="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b="1" spc="-4" dirty="0">
                <a:solidFill>
                  <a:srgbClr val="2E2B1F"/>
                </a:solidFill>
                <a:latin typeface="Calibri"/>
                <a:cs typeface="Calibri"/>
              </a:rPr>
              <a:t>AJAX </a:t>
            </a:r>
            <a:r>
              <a:rPr sz="2100" b="1" spc="-11" dirty="0">
                <a:solidFill>
                  <a:srgbClr val="2E2B1F"/>
                </a:solidFill>
                <a:latin typeface="Calibri"/>
                <a:cs typeface="Calibri"/>
              </a:rPr>
              <a:t>Operation</a:t>
            </a:r>
            <a:endParaRPr sz="2100" dirty="0">
              <a:latin typeface="Calibri"/>
              <a:cs typeface="Calibri"/>
            </a:endParaRPr>
          </a:p>
          <a:p>
            <a:pPr marL="403860" lvl="1" indent="-172403">
              <a:spcBef>
                <a:spcPts val="368"/>
              </a:spcBef>
              <a:buClr>
                <a:srgbClr val="9CBDBC"/>
              </a:buClr>
              <a:buFont typeface="Arial MT"/>
              <a:buChar char="•"/>
              <a:tabLst>
                <a:tab pos="403860" algn="l"/>
                <a:tab pos="404336" algn="l"/>
              </a:tabLst>
            </a:pPr>
            <a:r>
              <a:rPr sz="2100" dirty="0">
                <a:solidFill>
                  <a:srgbClr val="2E2B1F"/>
                </a:solidFill>
                <a:latin typeface="Calibri"/>
                <a:cs typeface="Calibri"/>
              </a:rPr>
              <a:t>A</a:t>
            </a:r>
            <a:r>
              <a:rPr sz="2100" spc="-19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srgbClr val="2E2B1F"/>
                </a:solidFill>
                <a:latin typeface="Calibri"/>
                <a:cs typeface="Calibri"/>
              </a:rPr>
              <a:t>client</a:t>
            </a:r>
            <a:r>
              <a:rPr sz="2100" spc="8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srgbClr val="2E2B1F"/>
                </a:solidFill>
                <a:latin typeface="Calibri"/>
                <a:cs typeface="Calibri"/>
              </a:rPr>
              <a:t>event</a:t>
            </a:r>
            <a:r>
              <a:rPr sz="2100" spc="8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srgbClr val="2E2B1F"/>
                </a:solidFill>
                <a:latin typeface="Calibri"/>
                <a:cs typeface="Calibri"/>
              </a:rPr>
              <a:t>occurs.</a:t>
            </a:r>
            <a:endParaRPr sz="2100" dirty="0">
              <a:latin typeface="Calibri"/>
              <a:cs typeface="Calibri"/>
            </a:endParaRPr>
          </a:p>
          <a:p>
            <a:pPr marL="403860" lvl="1" indent="-172403">
              <a:spcBef>
                <a:spcPts val="363"/>
              </a:spcBef>
              <a:buClr>
                <a:srgbClr val="9CBDBC"/>
              </a:buClr>
              <a:buFont typeface="Arial MT"/>
              <a:buChar char="•"/>
              <a:tabLst>
                <a:tab pos="403860" algn="l"/>
                <a:tab pos="404336" algn="l"/>
              </a:tabLst>
            </a:pPr>
            <a:r>
              <a:rPr sz="2100" dirty="0">
                <a:solidFill>
                  <a:srgbClr val="2E2B1F"/>
                </a:solidFill>
                <a:latin typeface="Calibri"/>
                <a:cs typeface="Calibri"/>
              </a:rPr>
              <a:t>An</a:t>
            </a:r>
            <a:r>
              <a:rPr sz="2100" spc="-8" dirty="0">
                <a:solidFill>
                  <a:srgbClr val="2E2B1F"/>
                </a:solidFill>
                <a:latin typeface="Calibri"/>
                <a:cs typeface="Calibri"/>
              </a:rPr>
              <a:t> XMLHttpRequest</a:t>
            </a:r>
            <a:r>
              <a:rPr sz="2100" spc="-19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srgbClr val="2E2B1F"/>
                </a:solidFill>
                <a:latin typeface="Calibri"/>
                <a:cs typeface="Calibri"/>
              </a:rPr>
              <a:t>object</a:t>
            </a:r>
            <a:r>
              <a:rPr sz="2100" spc="-8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E2B1F"/>
                </a:solidFill>
                <a:latin typeface="Calibri"/>
                <a:cs typeface="Calibri"/>
              </a:rPr>
              <a:t>is</a:t>
            </a:r>
            <a:r>
              <a:rPr sz="2100" spc="8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srgbClr val="2E2B1F"/>
                </a:solidFill>
                <a:latin typeface="Calibri"/>
                <a:cs typeface="Calibri"/>
              </a:rPr>
              <a:t>created.</a:t>
            </a:r>
            <a:endParaRPr sz="2100" dirty="0">
              <a:latin typeface="Calibri"/>
              <a:cs typeface="Calibri"/>
            </a:endParaRPr>
          </a:p>
          <a:p>
            <a:pPr marL="403860" lvl="1" indent="-172403">
              <a:spcBef>
                <a:spcPts val="360"/>
              </a:spcBef>
              <a:buClr>
                <a:srgbClr val="9CBDBC"/>
              </a:buClr>
              <a:buFont typeface="Arial MT"/>
              <a:buChar char="•"/>
              <a:tabLst>
                <a:tab pos="403860" algn="l"/>
                <a:tab pos="404336" algn="l"/>
              </a:tabLst>
            </a:pPr>
            <a:r>
              <a:rPr sz="2100" spc="-4" dirty="0">
                <a:solidFill>
                  <a:srgbClr val="2E2B1F"/>
                </a:solidFill>
                <a:latin typeface="Calibri"/>
                <a:cs typeface="Calibri"/>
              </a:rPr>
              <a:t>The</a:t>
            </a:r>
            <a:r>
              <a:rPr sz="21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srgbClr val="2E2B1F"/>
                </a:solidFill>
                <a:latin typeface="Calibri"/>
                <a:cs typeface="Calibri"/>
              </a:rPr>
              <a:t>XMLHttpRequest</a:t>
            </a:r>
            <a:r>
              <a:rPr sz="21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srgbClr val="2E2B1F"/>
                </a:solidFill>
                <a:latin typeface="Calibri"/>
                <a:cs typeface="Calibri"/>
              </a:rPr>
              <a:t>object</a:t>
            </a:r>
            <a:r>
              <a:rPr sz="2100" spc="-8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E2B1F"/>
                </a:solidFill>
                <a:latin typeface="Calibri"/>
                <a:cs typeface="Calibri"/>
              </a:rPr>
              <a:t>is</a:t>
            </a:r>
            <a:r>
              <a:rPr sz="2100" spc="-8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srgbClr val="2E2B1F"/>
                </a:solidFill>
                <a:latin typeface="Calibri"/>
                <a:cs typeface="Calibri"/>
              </a:rPr>
              <a:t>configured.</a:t>
            </a:r>
            <a:endParaRPr sz="2100" dirty="0">
              <a:latin typeface="Calibri"/>
              <a:cs typeface="Calibri"/>
            </a:endParaRPr>
          </a:p>
          <a:p>
            <a:pPr marL="403860" lvl="1" indent="-172403">
              <a:spcBef>
                <a:spcPts val="360"/>
              </a:spcBef>
              <a:buClr>
                <a:srgbClr val="9CBDBC"/>
              </a:buClr>
              <a:buFont typeface="Arial MT"/>
              <a:buChar char="•"/>
              <a:tabLst>
                <a:tab pos="403860" algn="l"/>
                <a:tab pos="404336" algn="l"/>
              </a:tabLst>
            </a:pPr>
            <a:r>
              <a:rPr sz="2100" spc="-4" dirty="0">
                <a:solidFill>
                  <a:srgbClr val="2E2B1F"/>
                </a:solidFill>
                <a:latin typeface="Calibri"/>
                <a:cs typeface="Calibri"/>
              </a:rPr>
              <a:t>The</a:t>
            </a:r>
            <a:r>
              <a:rPr sz="2100" spc="8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srgbClr val="2E2B1F"/>
                </a:solidFill>
                <a:latin typeface="Calibri"/>
                <a:cs typeface="Calibri"/>
              </a:rPr>
              <a:t>XMLHttpRequest</a:t>
            </a:r>
            <a:r>
              <a:rPr sz="2100" spc="-4" dirty="0">
                <a:solidFill>
                  <a:srgbClr val="2E2B1F"/>
                </a:solidFill>
                <a:latin typeface="Calibri"/>
                <a:cs typeface="Calibri"/>
              </a:rPr>
              <a:t> object</a:t>
            </a:r>
            <a:r>
              <a:rPr sz="2100" spc="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srgbClr val="2E2B1F"/>
                </a:solidFill>
                <a:latin typeface="Calibri"/>
                <a:cs typeface="Calibri"/>
              </a:rPr>
              <a:t>makes</a:t>
            </a:r>
            <a:r>
              <a:rPr sz="2100" spc="11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E2B1F"/>
                </a:solidFill>
                <a:latin typeface="Calibri"/>
                <a:cs typeface="Calibri"/>
              </a:rPr>
              <a:t>an</a:t>
            </a:r>
            <a:r>
              <a:rPr sz="2100" spc="11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srgbClr val="2E2B1F"/>
                </a:solidFill>
                <a:latin typeface="Calibri"/>
                <a:cs typeface="Calibri"/>
              </a:rPr>
              <a:t>asynchronous</a:t>
            </a:r>
            <a:r>
              <a:rPr sz="2100" spc="-19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srgbClr val="2E2B1F"/>
                </a:solidFill>
                <a:latin typeface="Calibri"/>
                <a:cs typeface="Calibri"/>
              </a:rPr>
              <a:t>request</a:t>
            </a:r>
            <a:r>
              <a:rPr sz="2100" spc="19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srgbClr val="2E2B1F"/>
                </a:solidFill>
                <a:latin typeface="Calibri"/>
                <a:cs typeface="Calibri"/>
              </a:rPr>
              <a:t>to</a:t>
            </a:r>
            <a:endParaRPr sz="2100" dirty="0">
              <a:latin typeface="Calibri"/>
              <a:cs typeface="Calibri"/>
            </a:endParaRPr>
          </a:p>
          <a:p>
            <a:pPr marL="403860"/>
            <a:r>
              <a:rPr sz="2100" dirty="0">
                <a:solidFill>
                  <a:srgbClr val="2E2B1F"/>
                </a:solidFill>
                <a:latin typeface="Calibri"/>
                <a:cs typeface="Calibri"/>
              </a:rPr>
              <a:t>the</a:t>
            </a:r>
            <a:r>
              <a:rPr sz="2100" spc="-26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spc="-23" dirty="0">
                <a:solidFill>
                  <a:srgbClr val="2E2B1F"/>
                </a:solidFill>
                <a:latin typeface="Calibri"/>
                <a:cs typeface="Calibri"/>
              </a:rPr>
              <a:t>Webserver.</a:t>
            </a:r>
            <a:endParaRPr sz="2100" dirty="0">
              <a:latin typeface="Calibri"/>
              <a:cs typeface="Calibri"/>
            </a:endParaRPr>
          </a:p>
          <a:p>
            <a:pPr marL="403860" lvl="1" indent="-172403">
              <a:spcBef>
                <a:spcPts val="360"/>
              </a:spcBef>
              <a:buClr>
                <a:srgbClr val="9CBDBC"/>
              </a:buClr>
              <a:buFont typeface="Arial MT"/>
              <a:buChar char="•"/>
              <a:tabLst>
                <a:tab pos="403860" algn="l"/>
                <a:tab pos="404336" algn="l"/>
              </a:tabLst>
            </a:pPr>
            <a:r>
              <a:rPr sz="2100" spc="-4" dirty="0">
                <a:solidFill>
                  <a:srgbClr val="2E2B1F"/>
                </a:solidFill>
                <a:latin typeface="Calibri"/>
                <a:cs typeface="Calibri"/>
              </a:rPr>
              <a:t>The </a:t>
            </a:r>
            <a:r>
              <a:rPr sz="2100" spc="-11" dirty="0">
                <a:solidFill>
                  <a:srgbClr val="2E2B1F"/>
                </a:solidFill>
                <a:latin typeface="Calibri"/>
                <a:cs typeface="Calibri"/>
              </a:rPr>
              <a:t>Webserver</a:t>
            </a:r>
            <a:r>
              <a:rPr sz="21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srgbClr val="2E2B1F"/>
                </a:solidFill>
                <a:latin typeface="Calibri"/>
                <a:cs typeface="Calibri"/>
              </a:rPr>
              <a:t>returns</a:t>
            </a:r>
            <a:r>
              <a:rPr sz="2100" spc="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E2B1F"/>
                </a:solidFill>
                <a:latin typeface="Calibri"/>
                <a:cs typeface="Calibri"/>
              </a:rPr>
              <a:t>the</a:t>
            </a:r>
            <a:r>
              <a:rPr sz="2100" spc="-8" dirty="0">
                <a:solidFill>
                  <a:srgbClr val="2E2B1F"/>
                </a:solidFill>
                <a:latin typeface="Calibri"/>
                <a:cs typeface="Calibri"/>
              </a:rPr>
              <a:t> result</a:t>
            </a:r>
            <a:r>
              <a:rPr sz="2100" spc="11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srgbClr val="2E2B1F"/>
                </a:solidFill>
                <a:latin typeface="Calibri"/>
                <a:cs typeface="Calibri"/>
              </a:rPr>
              <a:t>containing</a:t>
            </a:r>
            <a:r>
              <a:rPr sz="21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E2B1F"/>
                </a:solidFill>
                <a:latin typeface="Calibri"/>
                <a:cs typeface="Calibri"/>
              </a:rPr>
              <a:t>XML</a:t>
            </a:r>
            <a:r>
              <a:rPr sz="2100" spc="-11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srgbClr val="2E2B1F"/>
                </a:solidFill>
                <a:latin typeface="Calibri"/>
                <a:cs typeface="Calibri"/>
              </a:rPr>
              <a:t>document.</a:t>
            </a:r>
            <a:endParaRPr sz="2100" dirty="0">
              <a:latin typeface="Calibri"/>
              <a:cs typeface="Calibri"/>
            </a:endParaRPr>
          </a:p>
          <a:p>
            <a:pPr marL="403860" marR="247174" lvl="1" indent="-171926">
              <a:spcBef>
                <a:spcPts val="360"/>
              </a:spcBef>
              <a:buClr>
                <a:srgbClr val="9CBDBC"/>
              </a:buClr>
              <a:buFont typeface="Arial MT"/>
              <a:buChar char="•"/>
              <a:tabLst>
                <a:tab pos="403860" algn="l"/>
                <a:tab pos="404336" algn="l"/>
              </a:tabLst>
            </a:pPr>
            <a:r>
              <a:rPr sz="2100" spc="-4" dirty="0">
                <a:solidFill>
                  <a:srgbClr val="2E2B1F"/>
                </a:solidFill>
                <a:latin typeface="Calibri"/>
                <a:cs typeface="Calibri"/>
              </a:rPr>
              <a:t>The</a:t>
            </a:r>
            <a:r>
              <a:rPr sz="2100" spc="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srgbClr val="2E2B1F"/>
                </a:solidFill>
                <a:latin typeface="Calibri"/>
                <a:cs typeface="Calibri"/>
              </a:rPr>
              <a:t>XMLHttpRequest </a:t>
            </a:r>
            <a:r>
              <a:rPr sz="2100" spc="-4" dirty="0">
                <a:solidFill>
                  <a:srgbClr val="2E2B1F"/>
                </a:solidFill>
                <a:latin typeface="Calibri"/>
                <a:cs typeface="Calibri"/>
              </a:rPr>
              <a:t>object</a:t>
            </a:r>
            <a:r>
              <a:rPr sz="21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srgbClr val="2E2B1F"/>
                </a:solidFill>
                <a:latin typeface="Calibri"/>
                <a:cs typeface="Calibri"/>
              </a:rPr>
              <a:t>calls</a:t>
            </a:r>
            <a:r>
              <a:rPr sz="2100" spc="8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E2B1F"/>
                </a:solidFill>
                <a:latin typeface="Calibri"/>
                <a:cs typeface="Calibri"/>
              </a:rPr>
              <a:t>the </a:t>
            </a:r>
            <a:r>
              <a:rPr sz="2100" spc="-4" dirty="0">
                <a:solidFill>
                  <a:srgbClr val="2E2B1F"/>
                </a:solidFill>
                <a:latin typeface="Calibri"/>
                <a:cs typeface="Calibri"/>
              </a:rPr>
              <a:t>callback()</a:t>
            </a:r>
            <a:r>
              <a:rPr sz="2100" spc="11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E2B1F"/>
                </a:solidFill>
                <a:latin typeface="Calibri"/>
                <a:cs typeface="Calibri"/>
              </a:rPr>
              <a:t>function</a:t>
            </a:r>
            <a:r>
              <a:rPr sz="21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E2B1F"/>
                </a:solidFill>
                <a:latin typeface="Calibri"/>
                <a:cs typeface="Calibri"/>
              </a:rPr>
              <a:t>and </a:t>
            </a:r>
            <a:r>
              <a:rPr sz="2100" spc="-326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srgbClr val="2E2B1F"/>
                </a:solidFill>
                <a:latin typeface="Calibri"/>
                <a:cs typeface="Calibri"/>
              </a:rPr>
              <a:t>processes</a:t>
            </a:r>
            <a:r>
              <a:rPr sz="2100" spc="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E2B1F"/>
                </a:solidFill>
                <a:latin typeface="Calibri"/>
                <a:cs typeface="Calibri"/>
              </a:rPr>
              <a:t>the </a:t>
            </a:r>
            <a:r>
              <a:rPr sz="2100" spc="-4" dirty="0">
                <a:solidFill>
                  <a:srgbClr val="2E2B1F"/>
                </a:solidFill>
                <a:latin typeface="Calibri"/>
                <a:cs typeface="Calibri"/>
              </a:rPr>
              <a:t>result.</a:t>
            </a:r>
            <a:endParaRPr sz="2100" dirty="0">
              <a:latin typeface="Calibri"/>
              <a:cs typeface="Calibri"/>
            </a:endParaRPr>
          </a:p>
          <a:p>
            <a:pPr marL="403860" lvl="1" indent="-172403">
              <a:spcBef>
                <a:spcPts val="360"/>
              </a:spcBef>
              <a:buClr>
                <a:srgbClr val="9CBDBC"/>
              </a:buClr>
              <a:buFont typeface="Arial MT"/>
              <a:buChar char="•"/>
              <a:tabLst>
                <a:tab pos="403860" algn="l"/>
                <a:tab pos="404336" algn="l"/>
              </a:tabLst>
            </a:pPr>
            <a:r>
              <a:rPr sz="2100" spc="-4" dirty="0">
                <a:solidFill>
                  <a:srgbClr val="2E2B1F"/>
                </a:solidFill>
                <a:latin typeface="Calibri"/>
                <a:cs typeface="Calibri"/>
              </a:rPr>
              <a:t>The</a:t>
            </a:r>
            <a:r>
              <a:rPr sz="21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srgbClr val="2E2B1F"/>
                </a:solidFill>
                <a:latin typeface="Calibri"/>
                <a:cs typeface="Calibri"/>
              </a:rPr>
              <a:t>HTML</a:t>
            </a:r>
            <a:r>
              <a:rPr sz="2100" spc="-19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E2B1F"/>
                </a:solidFill>
                <a:latin typeface="Calibri"/>
                <a:cs typeface="Calibri"/>
              </a:rPr>
              <a:t>DOM</a:t>
            </a:r>
            <a:r>
              <a:rPr sz="2100" spc="-23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E2B1F"/>
                </a:solidFill>
                <a:latin typeface="Calibri"/>
                <a:cs typeface="Calibri"/>
              </a:rPr>
              <a:t>is</a:t>
            </a:r>
            <a:r>
              <a:rPr sz="21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srgbClr val="2E2B1F"/>
                </a:solidFill>
                <a:latin typeface="Calibri"/>
                <a:cs typeface="Calibri"/>
              </a:rPr>
              <a:t>updated.</a:t>
            </a:r>
            <a:endParaRPr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Gmail, Google Maps, Google Docs and Spreadsheets, Flickr, A9</a:t>
            </a:r>
          </a:p>
          <a:p>
            <a:r>
              <a:rPr lang="en-US" dirty="0"/>
              <a:t>Online Test</a:t>
            </a:r>
          </a:p>
        </p:txBody>
      </p:sp>
    </p:spTree>
    <p:extLst>
      <p:ext uri="{BB962C8B-B14F-4D97-AF65-F5344CB8AC3E}">
        <p14:creationId xmlns:p14="http://schemas.microsoft.com/office/powerpoint/2010/main" val="1216110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latin typeface="Courier New" pitchFamily="49" charset="0"/>
                <a:cs typeface="Courier New" pitchFamily="49" charset="0"/>
              </a:rPr>
              <a:t>XMLHttpRequest</a:t>
            </a:r>
            <a:r>
              <a:rPr lang="en-US" dirty="0"/>
              <a:t> </a:t>
            </a:r>
            <a:br>
              <a:rPr lang="en-US" dirty="0"/>
            </a:br>
            <a:r>
              <a:rPr lang="en-US" sz="3600" dirty="0"/>
              <a:t>(and why we won't use 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JavaScript includes an </a:t>
            </a:r>
            <a:r>
              <a:rPr lang="en-US" dirty="0" err="1"/>
              <a:t>XMLHttpRequest</a:t>
            </a:r>
            <a:r>
              <a:rPr lang="en-US" dirty="0"/>
              <a:t> object that can fetch files from a web server</a:t>
            </a:r>
          </a:p>
          <a:p>
            <a:pPr lvl="1"/>
            <a:r>
              <a:rPr lang="en-US" dirty="0"/>
              <a:t>supported in IE5+, Safari, Firefox, Opera, Chrome, etc. (with minor compatibilities)</a:t>
            </a:r>
          </a:p>
          <a:p>
            <a:r>
              <a:rPr lang="en-US" dirty="0"/>
              <a:t>it can do this asynchronously (in the background, transparent to user)</a:t>
            </a:r>
          </a:p>
          <a:p>
            <a:r>
              <a:rPr lang="en-US" dirty="0"/>
              <a:t>the contents of the fetched file can be put into current web page using the DOM</a:t>
            </a:r>
          </a:p>
        </p:txBody>
      </p:sp>
    </p:spTree>
    <p:extLst>
      <p:ext uri="{BB962C8B-B14F-4D97-AF65-F5344CB8AC3E}">
        <p14:creationId xmlns:p14="http://schemas.microsoft.com/office/powerpoint/2010/main" val="489850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latin typeface="Courier New" pitchFamily="49" charset="0"/>
                <a:cs typeface="Courier New" pitchFamily="49" charset="0"/>
              </a:rPr>
              <a:t>XMLHttpRequest</a:t>
            </a:r>
            <a:r>
              <a:rPr lang="en-US" dirty="0"/>
              <a:t> </a:t>
            </a:r>
            <a:br>
              <a:rPr lang="en-US" dirty="0"/>
            </a:br>
            <a:r>
              <a:rPr lang="en-US" sz="4000" dirty="0"/>
              <a:t>(and why we won't use 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sounds great!...</a:t>
            </a:r>
          </a:p>
          <a:p>
            <a:r>
              <a:rPr lang="en-US" dirty="0"/>
              <a:t>... but it is clunky to use, and has various browser incompatibilities</a:t>
            </a:r>
          </a:p>
          <a:p>
            <a:r>
              <a:rPr lang="en-US" dirty="0"/>
              <a:t>Prototype provides a better wrapper for Ajax, so we will use that instead</a:t>
            </a:r>
          </a:p>
        </p:txBody>
      </p:sp>
    </p:spTree>
    <p:extLst>
      <p:ext uri="{BB962C8B-B14F-4D97-AF65-F5344CB8AC3E}">
        <p14:creationId xmlns:p14="http://schemas.microsoft.com/office/powerpoint/2010/main" val="4292655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typical Ajax request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00200"/>
            <a:ext cx="8024328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4319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396" y="391917"/>
            <a:ext cx="9692516" cy="994172"/>
          </a:xfrm>
        </p:spPr>
        <p:txBody>
          <a:bodyPr>
            <a:noAutofit/>
          </a:bodyPr>
          <a:lstStyle/>
          <a:p>
            <a:r>
              <a:rPr lang="en-US" sz="2700" b="1" dirty="0"/>
              <a:t>Difference between synchronous &amp; asynchronous requests</a:t>
            </a:r>
            <a:br>
              <a:rPr lang="en-US" sz="2700" b="1" dirty="0"/>
            </a:br>
            <a:endParaRPr lang="en-IN" sz="27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94472" y="1647411"/>
            <a:ext cx="8549516" cy="3563178"/>
          </a:xfrm>
        </p:spPr>
        <p:txBody>
          <a:bodyPr>
            <a:normAutofit/>
          </a:bodyPr>
          <a:lstStyle/>
          <a:p>
            <a:pPr marL="34290" indent="0">
              <a:buNone/>
            </a:pPr>
            <a:r>
              <a:rPr lang="en-US" sz="1500" dirty="0"/>
              <a:t>Synchronous request blocks the user until a response is retrieved whereas asynchronous doesn't block the user.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                 Synchronous Request                                            </a:t>
            </a:r>
            <a:r>
              <a:rPr lang="en-IN" sz="1800" dirty="0">
                <a:solidFill>
                  <a:srgbClr val="FF0000"/>
                </a:solidFill>
              </a:rPr>
              <a:t>Asynchronous Request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338304" y="3651740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100" dirty="0"/>
          </a:p>
        </p:txBody>
      </p:sp>
      <p:pic>
        <p:nvPicPr>
          <p:cNvPr id="3076" name="Picture 4" descr="synchronous reque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147" y="2493738"/>
            <a:ext cx="4220290" cy="3166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asynchronous reques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7219" y="2493737"/>
            <a:ext cx="4352853" cy="3061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3379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437" y="228600"/>
            <a:ext cx="8515350" cy="994172"/>
          </a:xfrm>
        </p:spPr>
        <p:txBody>
          <a:bodyPr/>
          <a:lstStyle/>
          <a:p>
            <a:r>
              <a:rPr lang="en-US" sz="3600" b="1" dirty="0"/>
              <a:t>What is the purpose of </a:t>
            </a:r>
            <a:r>
              <a:rPr lang="en-US" sz="3600" b="1" dirty="0" err="1"/>
              <a:t>XMLHttpRequest</a:t>
            </a:r>
            <a:r>
              <a:rPr lang="en-US" sz="3600" b="1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460" y="1797248"/>
            <a:ext cx="3073802" cy="3263503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It sends data in the background to the server.</a:t>
            </a:r>
          </a:p>
          <a:p>
            <a:r>
              <a:rPr lang="en-US" sz="2400" dirty="0">
                <a:solidFill>
                  <a:schemeClr val="tx1"/>
                </a:solidFill>
              </a:rPr>
              <a:t>It requests data from the server.</a:t>
            </a:r>
          </a:p>
          <a:p>
            <a:r>
              <a:rPr lang="en-US" sz="2400" dirty="0">
                <a:solidFill>
                  <a:schemeClr val="tx1"/>
                </a:solidFill>
              </a:rPr>
              <a:t>It receives data from the server.</a:t>
            </a:r>
          </a:p>
          <a:p>
            <a:r>
              <a:rPr lang="en-US" sz="2400" dirty="0">
                <a:solidFill>
                  <a:schemeClr val="tx1"/>
                </a:solidFill>
              </a:rPr>
              <a:t>It updates data without reloading the page.</a:t>
            </a:r>
          </a:p>
          <a:p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386139" y="1851423"/>
          <a:ext cx="5588401" cy="3428150"/>
        </p:xfrm>
        <a:graphic>
          <a:graphicData uri="http://schemas.openxmlformats.org/drawingml/2006/table">
            <a:tbl>
              <a:tblPr/>
              <a:tblGrid>
                <a:gridCol w="1422257">
                  <a:extLst>
                    <a:ext uri="{9D8B030D-6E8A-4147-A177-3AD203B41FA5}">
                      <a16:colId xmlns:a16="http://schemas.microsoft.com/office/drawing/2014/main" xmlns="" val="3208850677"/>
                    </a:ext>
                  </a:extLst>
                </a:gridCol>
                <a:gridCol w="4166144">
                  <a:extLst>
                    <a:ext uri="{9D8B030D-6E8A-4147-A177-3AD203B41FA5}">
                      <a16:colId xmlns:a16="http://schemas.microsoft.com/office/drawing/2014/main" xmlns="" val="1539647120"/>
                    </a:ext>
                  </a:extLst>
                </a:gridCol>
              </a:tblGrid>
              <a:tr h="339462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Property</a:t>
                      </a:r>
                    </a:p>
                  </a:txBody>
                  <a:tcPr marL="46400" marR="46400" marT="46400" marB="46400">
                    <a:lnL w="7620" cap="flat" cmpd="sng" algn="ctr">
                      <a:solidFill>
                        <a:srgbClr val="C09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9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9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46400" marR="46400" marT="46400" marB="46400">
                    <a:lnL w="7620" cap="flat" cmpd="sng" algn="ctr">
                      <a:solidFill>
                        <a:srgbClr val="C09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9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9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97252144"/>
                  </a:ext>
                </a:extLst>
              </a:tr>
              <a:tr h="538231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onReadyStateChange</a:t>
                      </a:r>
                    </a:p>
                  </a:txBody>
                  <a:tcPr marL="30934" marR="30934" marT="30934" marB="30934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called whenever readystate attribute changes. It must not be used with synchronous requests.</a:t>
                      </a:r>
                    </a:p>
                  </a:txBody>
                  <a:tcPr marL="30934" marR="30934" marT="30934" marB="30934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81765604"/>
                  </a:ext>
                </a:extLst>
              </a:tr>
              <a:tr h="1941879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readyState</a:t>
                      </a:r>
                      <a:endParaRPr lang="en-IN" sz="14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30934" marR="30934" marT="30934" marB="30934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represents the state of the request. It ranges from 0 to 4.</a:t>
                      </a:r>
                      <a:r>
                        <a:rPr lang="en-US" sz="1400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0</a:t>
                      </a: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 UNOPENED open() is not called.</a:t>
                      </a:r>
                    </a:p>
                    <a:p>
                      <a:pPr algn="just" fontAlgn="t"/>
                      <a:r>
                        <a:rPr lang="en-US" sz="1400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1</a:t>
                      </a: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 OPENED open is called but send() is not called.</a:t>
                      </a:r>
                    </a:p>
                    <a:p>
                      <a:pPr algn="just" fontAlgn="t"/>
                      <a:r>
                        <a:rPr lang="en-US" sz="1400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2</a:t>
                      </a: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 HEADERS_RECEIVED send() is called, and headers and status are available.</a:t>
                      </a:r>
                    </a:p>
                    <a:p>
                      <a:pPr algn="just" fontAlgn="t"/>
                      <a:r>
                        <a:rPr lang="en-US" sz="1400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3</a:t>
                      </a: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 LOADING Downloading data; </a:t>
                      </a:r>
                      <a:r>
                        <a:rPr lang="en-US" sz="1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responseText</a:t>
                      </a: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holds the data.</a:t>
                      </a:r>
                    </a:p>
                    <a:p>
                      <a:pPr algn="just" fontAlgn="t"/>
                      <a:r>
                        <a:rPr lang="en-US" sz="1400" b="1" dirty="0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4</a:t>
                      </a:r>
                      <a:r>
                        <a:rPr lang="en-US" sz="1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 DONE The operation is completed fully.</a:t>
                      </a:r>
                    </a:p>
                  </a:txBody>
                  <a:tcPr marL="30934" marR="30934" marT="30934" marB="30934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76650300"/>
                  </a:ext>
                </a:extLst>
              </a:tr>
              <a:tr h="304289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reponseText</a:t>
                      </a:r>
                    </a:p>
                  </a:txBody>
                  <a:tcPr marL="30934" marR="30934" marT="30934" marB="30934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returns response as text.</a:t>
                      </a:r>
                    </a:p>
                  </a:txBody>
                  <a:tcPr marL="30934" marR="30934" marT="30934" marB="30934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20397952"/>
                  </a:ext>
                </a:extLst>
              </a:tr>
              <a:tr h="304289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responseXML</a:t>
                      </a:r>
                      <a:endParaRPr lang="en-IN" sz="14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30934" marR="30934" marT="30934" marB="30934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returns response as XML</a:t>
                      </a:r>
                    </a:p>
                  </a:txBody>
                  <a:tcPr marL="30934" marR="30934" marT="30934" marB="30934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62073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14342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932" y="152400"/>
            <a:ext cx="8583067" cy="1017270"/>
          </a:xfrm>
        </p:spPr>
        <p:txBody>
          <a:bodyPr/>
          <a:lstStyle/>
          <a:p>
            <a:r>
              <a:rPr lang="en-IN" b="1" dirty="0"/>
              <a:t>Methods of </a:t>
            </a:r>
            <a:r>
              <a:rPr lang="en-IN" b="1" dirty="0" err="1"/>
              <a:t>XMLHttpRequest</a:t>
            </a:r>
            <a:r>
              <a:rPr lang="en-IN" b="1" dirty="0"/>
              <a:t> object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8411094"/>
              </p:ext>
            </p:extLst>
          </p:nvPr>
        </p:nvGraphicFramePr>
        <p:xfrm>
          <a:off x="560932" y="1905000"/>
          <a:ext cx="8284752" cy="3792774"/>
        </p:xfrm>
        <a:graphic>
          <a:graphicData uri="http://schemas.openxmlformats.org/drawingml/2006/table">
            <a:tbl>
              <a:tblPr/>
              <a:tblGrid>
                <a:gridCol w="3255552">
                  <a:extLst>
                    <a:ext uri="{9D8B030D-6E8A-4147-A177-3AD203B41FA5}">
                      <a16:colId xmlns:a16="http://schemas.microsoft.com/office/drawing/2014/main" xmlns="" val="984263849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xmlns="" val="2596791856"/>
                    </a:ext>
                  </a:extLst>
                </a:gridCol>
              </a:tblGrid>
              <a:tr h="440596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8580" marR="68580" marT="68580" marB="68580">
                    <a:lnL w="7620" cap="flat" cmpd="sng" algn="ctr">
                      <a:solidFill>
                        <a:srgbClr val="00E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E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E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 marT="68580" marB="68580">
                    <a:lnL w="7620" cap="flat" cmpd="sng" algn="ctr">
                      <a:solidFill>
                        <a:srgbClr val="00E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E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E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50637785"/>
                  </a:ext>
                </a:extLst>
              </a:tr>
              <a:tr h="385522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void open(method, URL)</a:t>
                      </a:r>
                    </a:p>
                  </a:txBody>
                  <a:tcPr marL="45720" marR="4572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opens the request specifying get or post method and url.</a:t>
                      </a:r>
                    </a:p>
                  </a:txBody>
                  <a:tcPr marL="45720" marR="4572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40191517"/>
                  </a:ext>
                </a:extLst>
              </a:tr>
              <a:tr h="385522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void open(method, URL, async)</a:t>
                      </a:r>
                    </a:p>
                  </a:txBody>
                  <a:tcPr marL="45720" marR="4572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same as above but specifies asynchronous or not.</a:t>
                      </a:r>
                    </a:p>
                  </a:txBody>
                  <a:tcPr marL="45720" marR="4572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25427744"/>
                  </a:ext>
                </a:extLst>
              </a:tr>
              <a:tr h="660894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void open(method, URL, async, username, password)</a:t>
                      </a:r>
                    </a:p>
                  </a:txBody>
                  <a:tcPr marL="45720" marR="4572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same as above but specifies username and password.</a:t>
                      </a:r>
                    </a:p>
                  </a:txBody>
                  <a:tcPr marL="45720" marR="4572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49517857"/>
                  </a:ext>
                </a:extLst>
              </a:tr>
              <a:tr h="385522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void send()</a:t>
                      </a:r>
                    </a:p>
                  </a:txBody>
                  <a:tcPr marL="45720" marR="4572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sends get request.</a:t>
                      </a:r>
                    </a:p>
                  </a:txBody>
                  <a:tcPr marL="45720" marR="4572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89478820"/>
                  </a:ext>
                </a:extLst>
              </a:tr>
              <a:tr h="385522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void send(string)</a:t>
                      </a:r>
                    </a:p>
                  </a:txBody>
                  <a:tcPr marL="45720" marR="4572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send post request.</a:t>
                      </a:r>
                    </a:p>
                  </a:txBody>
                  <a:tcPr marL="45720" marR="4572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99195694"/>
                  </a:ext>
                </a:extLst>
              </a:tr>
              <a:tr h="385522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setRequestHeader(header,value)</a:t>
                      </a:r>
                    </a:p>
                  </a:txBody>
                  <a:tcPr marL="45720" marR="4572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adds request headers.</a:t>
                      </a:r>
                    </a:p>
                  </a:txBody>
                  <a:tcPr marL="45720" marR="4572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4784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49030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typical Ajax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447800"/>
            <a:ext cx="8153400" cy="4495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user clicks, invoking an event handler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handler's code creates an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XMLHttpRequest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/>
              <a:t>object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XMLHttpRequest</a:t>
            </a:r>
            <a:r>
              <a:rPr lang="en-US" dirty="0"/>
              <a:t> object requests page from server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server retrieves appropriate data, sends it back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XMLHttpRequest</a:t>
            </a:r>
            <a:r>
              <a:rPr lang="en-US" dirty="0"/>
              <a:t> fires an event when data arrives</a:t>
            </a:r>
          </a:p>
          <a:p>
            <a:pPr lvl="2"/>
            <a:r>
              <a:rPr lang="en-US" dirty="0"/>
              <a:t>this is often called a callback</a:t>
            </a:r>
          </a:p>
          <a:p>
            <a:pPr lvl="2"/>
            <a:r>
              <a:rPr lang="en-US" dirty="0"/>
              <a:t>you can attach a handler function to this event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your callback event handler processes the data and displays it</a:t>
            </a:r>
          </a:p>
        </p:txBody>
      </p:sp>
    </p:spTree>
    <p:extLst>
      <p:ext uri="{BB962C8B-B14F-4D97-AF65-F5344CB8AC3E}">
        <p14:creationId xmlns:p14="http://schemas.microsoft.com/office/powerpoint/2010/main" val="4759267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552855" y="533400"/>
            <a:ext cx="8229600" cy="533400"/>
          </a:xfrm>
        </p:spPr>
        <p:txBody>
          <a:bodyPr/>
          <a:lstStyle/>
          <a:p>
            <a:r>
              <a:rPr lang="en-US" dirty="0"/>
              <a:t>How to AJAX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655" y="1600200"/>
            <a:ext cx="8382000" cy="6705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000" b="1" dirty="0">
                <a:latin typeface="Times New Roman" pitchFamily="18" charset="0"/>
              </a:rPr>
              <a:t>Create </a:t>
            </a:r>
            <a:r>
              <a:rPr lang="en-US" sz="2000" b="1" dirty="0" err="1">
                <a:latin typeface="Times New Roman" pitchFamily="18" charset="0"/>
              </a:rPr>
              <a:t>XMLHttpRequest</a:t>
            </a:r>
            <a:r>
              <a:rPr lang="en-US" sz="2000" b="1" dirty="0">
                <a:latin typeface="Times New Roman" pitchFamily="18" charset="0"/>
              </a:rPr>
              <a:t> object</a:t>
            </a:r>
          </a:p>
          <a:p>
            <a:pPr lvl="1">
              <a:lnSpc>
                <a:spcPct val="80000"/>
              </a:lnSpc>
            </a:pPr>
            <a:r>
              <a:rPr lang="en-US" sz="1800" dirty="0">
                <a:latin typeface="Times New Roman" pitchFamily="18" charset="0"/>
              </a:rPr>
              <a:t>IE    	</a:t>
            </a:r>
            <a:r>
              <a:rPr lang="en-US" sz="1800" dirty="0" err="1"/>
              <a:t>xmlHttp</a:t>
            </a:r>
            <a:r>
              <a:rPr lang="en-US" sz="1800" dirty="0"/>
              <a:t>=new </a:t>
            </a:r>
            <a:r>
              <a:rPr lang="en-US" sz="1800" dirty="0" err="1"/>
              <a:t>ActiveXObject</a:t>
            </a:r>
            <a:r>
              <a:rPr lang="en-US" sz="1800" dirty="0"/>
              <a:t>("</a:t>
            </a:r>
            <a:r>
              <a:rPr lang="en-US" sz="1800" dirty="0" err="1"/>
              <a:t>Microsoft.XMLHTTP</a:t>
            </a:r>
            <a:r>
              <a:rPr lang="en-US" sz="1800" dirty="0"/>
              <a:t>" ) </a:t>
            </a:r>
            <a:endParaRPr lang="en-US" sz="1800" dirty="0">
              <a:latin typeface="Times New Roman" pitchFamily="18" charset="0"/>
            </a:endParaRPr>
          </a:p>
          <a:p>
            <a:pPr lvl="1">
              <a:lnSpc>
                <a:spcPct val="80000"/>
              </a:lnSpc>
            </a:pPr>
            <a:r>
              <a:rPr lang="en-US" sz="1800" dirty="0">
                <a:latin typeface="Times New Roman" pitchFamily="18" charset="0"/>
              </a:rPr>
              <a:t>Mozilla    	</a:t>
            </a:r>
            <a:r>
              <a:rPr lang="en-US" sz="1800" dirty="0" err="1"/>
              <a:t>xmlHttp</a:t>
            </a:r>
            <a:r>
              <a:rPr lang="en-US" sz="1800" dirty="0"/>
              <a:t>=new </a:t>
            </a:r>
            <a:r>
              <a:rPr lang="en-US" sz="1800" dirty="0" err="1"/>
              <a:t>XMLHttpRequest</a:t>
            </a:r>
            <a:r>
              <a:rPr lang="en-US" sz="1800" dirty="0"/>
              <a:t>() </a:t>
            </a:r>
          </a:p>
          <a:p>
            <a:pPr>
              <a:lnSpc>
                <a:spcPct val="80000"/>
              </a:lnSpc>
            </a:pPr>
            <a:r>
              <a:rPr lang="en-US" sz="2000" b="1" dirty="0">
                <a:latin typeface="Times New Roman" pitchFamily="18" charset="0"/>
              </a:rPr>
              <a:t>Define response handler function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Times New Roman" pitchFamily="18" charset="0"/>
              </a:rPr>
              <a:t>     </a:t>
            </a:r>
            <a:r>
              <a:rPr lang="en-US" sz="1800" dirty="0">
                <a:ea typeface="Arial Unicode MS" pitchFamily="34" charset="-128"/>
                <a:cs typeface="Arial Unicode MS" pitchFamily="34" charset="-128"/>
              </a:rPr>
              <a:t>function </a:t>
            </a:r>
            <a:r>
              <a:rPr lang="en-US" sz="1800" dirty="0" err="1">
                <a:ea typeface="Arial Unicode MS" pitchFamily="34" charset="-128"/>
                <a:cs typeface="Arial Unicode MS" pitchFamily="34" charset="-128"/>
              </a:rPr>
              <a:t>responseHandler</a:t>
            </a:r>
            <a:r>
              <a:rPr lang="en-US" sz="1800" dirty="0">
                <a:ea typeface="Arial Unicode MS" pitchFamily="34" charset="-128"/>
                <a:cs typeface="Arial Unicode MS" pitchFamily="34" charset="-128"/>
              </a:rPr>
              <a:t>()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1800" dirty="0"/>
              <a:t>if (</a:t>
            </a:r>
            <a:r>
              <a:rPr lang="en-US" sz="1800" dirty="0" err="1"/>
              <a:t>xmlHttp.readyState</a:t>
            </a:r>
            <a:r>
              <a:rPr lang="en-US" sz="1800" dirty="0"/>
              <a:t>==4 || </a:t>
            </a:r>
            <a:r>
              <a:rPr lang="en-US" sz="1800" dirty="0" err="1"/>
              <a:t>xmlHttp.readyState</a:t>
            </a:r>
            <a:r>
              <a:rPr lang="en-US" sz="1800" dirty="0"/>
              <a:t>=="complete") { 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 dirty="0"/>
              <a:t>          		</a:t>
            </a:r>
            <a:r>
              <a:rPr lang="en-US" sz="1800" dirty="0" err="1"/>
              <a:t>textResponse</a:t>
            </a:r>
            <a:r>
              <a:rPr lang="en-US" sz="1800" dirty="0"/>
              <a:t> =</a:t>
            </a:r>
            <a:r>
              <a:rPr lang="en-US" sz="1800" dirty="0" err="1"/>
              <a:t>xmlHttp.responseText</a:t>
            </a:r>
            <a:r>
              <a:rPr lang="en-US" sz="1800" dirty="0"/>
              <a:t> 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400" dirty="0"/>
              <a:t>          		</a:t>
            </a:r>
            <a:r>
              <a:rPr lang="en-US" sz="1400" dirty="0" err="1"/>
              <a:t>xmlResponse</a:t>
            </a:r>
            <a:r>
              <a:rPr lang="en-US" sz="1400" dirty="0"/>
              <a:t> = </a:t>
            </a:r>
            <a:r>
              <a:rPr lang="en-US" sz="1400" dirty="0" err="1"/>
              <a:t>xmlHttp.responseXML</a:t>
            </a:r>
            <a:r>
              <a:rPr lang="en-US" sz="1400" dirty="0"/>
              <a:t> } </a:t>
            </a:r>
            <a:endParaRPr lang="en-US" sz="1400" dirty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400" dirty="0">
                <a:latin typeface="Times New Roman" pitchFamily="18" charset="0"/>
              </a:rPr>
              <a:t>     </a:t>
            </a:r>
            <a:r>
              <a:rPr lang="en-US" sz="1400" dirty="0"/>
              <a:t>}</a:t>
            </a:r>
            <a:endParaRPr lang="en-US" sz="1400" dirty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 dirty="0">
                <a:latin typeface="Times New Roman" pitchFamily="18" charset="0"/>
              </a:rPr>
              <a:t>Binding </a:t>
            </a:r>
            <a:r>
              <a:rPr lang="en-US" sz="2000" b="1" dirty="0" err="1">
                <a:latin typeface="Times New Roman" pitchFamily="18" charset="0"/>
              </a:rPr>
              <a:t>XMLHttpRequest</a:t>
            </a:r>
            <a:r>
              <a:rPr lang="en-US" sz="2000" b="1" dirty="0">
                <a:latin typeface="Times New Roman" pitchFamily="18" charset="0"/>
              </a:rPr>
              <a:t> handler function to </a:t>
            </a:r>
            <a:r>
              <a:rPr lang="en-US" sz="2000" b="1" dirty="0" err="1">
                <a:latin typeface="Times New Roman" pitchFamily="18" charset="0"/>
              </a:rPr>
              <a:t>XMLHttpRequest</a:t>
            </a:r>
            <a:r>
              <a:rPr lang="en-US" sz="2000" b="1" dirty="0">
                <a:latin typeface="Times New Roman" pitchFamily="18" charset="0"/>
              </a:rPr>
              <a:t> object</a:t>
            </a:r>
          </a:p>
          <a:p>
            <a:pPr lvl="1">
              <a:lnSpc>
                <a:spcPct val="80000"/>
              </a:lnSpc>
            </a:pPr>
            <a:r>
              <a:rPr lang="en-US" sz="1800" dirty="0">
                <a:latin typeface="Times New Roman" pitchFamily="18" charset="0"/>
              </a:rPr>
              <a:t>IE                  </a:t>
            </a:r>
            <a:r>
              <a:rPr lang="en-US" sz="1800" dirty="0" err="1"/>
              <a:t>xmlHttp.onreadystatechange</a:t>
            </a:r>
            <a:r>
              <a:rPr lang="en-US" sz="1800" dirty="0"/>
              <a:t>=</a:t>
            </a:r>
            <a:r>
              <a:rPr lang="en-US" sz="1800" dirty="0" err="1"/>
              <a:t>responseHandler</a:t>
            </a:r>
            <a:r>
              <a:rPr lang="en-US" sz="1800" dirty="0"/>
              <a:t> </a:t>
            </a:r>
          </a:p>
          <a:p>
            <a:pPr lvl="1">
              <a:lnSpc>
                <a:spcPct val="80000"/>
              </a:lnSpc>
            </a:pPr>
            <a:r>
              <a:rPr lang="en-US" sz="1800" dirty="0">
                <a:latin typeface="Times New Roman" pitchFamily="18" charset="0"/>
              </a:rPr>
              <a:t>Mozilla         </a:t>
            </a:r>
            <a:r>
              <a:rPr lang="en-US" sz="1800" dirty="0" err="1"/>
              <a:t>xmlHttp.onload</a:t>
            </a:r>
            <a:r>
              <a:rPr lang="en-US" sz="1800" dirty="0"/>
              <a:t>=</a:t>
            </a:r>
            <a:r>
              <a:rPr lang="en-US" sz="1800" dirty="0" err="1"/>
              <a:t>responseHandler</a:t>
            </a:r>
            <a:r>
              <a:rPr lang="en-US" sz="1800" dirty="0"/>
              <a:t> </a:t>
            </a:r>
            <a:endParaRPr lang="en-US" sz="1800" dirty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 dirty="0">
                <a:latin typeface="Times New Roman" pitchFamily="18" charset="0"/>
              </a:rPr>
              <a:t>Connect to the server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1800" dirty="0" err="1"/>
              <a:t>xmlHttp.open</a:t>
            </a:r>
            <a:r>
              <a:rPr lang="en-US" sz="1800" dirty="0"/>
              <a:t>(method, </a:t>
            </a:r>
            <a:r>
              <a:rPr lang="en-US" sz="1800" dirty="0" err="1"/>
              <a:t>url</a:t>
            </a:r>
            <a:r>
              <a:rPr lang="en-US" sz="1800" dirty="0"/>
              <a:t>, </a:t>
            </a:r>
            <a:r>
              <a:rPr lang="en-US" sz="1800" dirty="0" err="1"/>
              <a:t>asyncFlag</a:t>
            </a:r>
            <a:r>
              <a:rPr lang="en-US" sz="1800" dirty="0"/>
              <a:t>, </a:t>
            </a:r>
            <a:r>
              <a:rPr lang="en-US" sz="1800" dirty="0" err="1"/>
              <a:t>userid</a:t>
            </a:r>
            <a:r>
              <a:rPr lang="en-US" sz="1800" dirty="0"/>
              <a:t>, password)</a:t>
            </a:r>
            <a:r>
              <a:rPr lang="en-US" sz="2000" dirty="0"/>
              <a:t> </a:t>
            </a:r>
            <a:endParaRPr lang="en-US" sz="2000" dirty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 dirty="0">
                <a:latin typeface="Times New Roman" pitchFamily="18" charset="0"/>
              </a:rPr>
              <a:t>Send request to the server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Times New Roman" pitchFamily="18" charset="0"/>
              </a:rPr>
              <a:t>		</a:t>
            </a:r>
            <a:r>
              <a:rPr lang="en-US" sz="1800" dirty="0" err="1"/>
              <a:t>xmlHttp.send</a:t>
            </a:r>
            <a:r>
              <a:rPr lang="en-US" sz="1800" dirty="0"/>
              <a:t>(</a:t>
            </a:r>
            <a:r>
              <a:rPr lang="en-US" sz="1800" dirty="0" err="1"/>
              <a:t>requestMessageBody</a:t>
            </a:r>
            <a:r>
              <a:rPr lang="en-US" sz="1800" dirty="0"/>
              <a:t>)</a:t>
            </a:r>
            <a:r>
              <a:rPr lang="en-US" sz="2000" dirty="0"/>
              <a:t> </a:t>
            </a:r>
            <a:endParaRPr lang="en-US" sz="1800" dirty="0">
              <a:latin typeface="Times New Roman" pitchFamily="18" charset="0"/>
            </a:endParaRPr>
          </a:p>
          <a:p>
            <a:pPr lvl="1">
              <a:lnSpc>
                <a:spcPct val="80000"/>
              </a:lnSpc>
            </a:pPr>
            <a:endParaRPr lang="en-US" sz="1800" b="1" dirty="0">
              <a:latin typeface="Times New Roman" pitchFamily="18" charset="0"/>
            </a:endParaRPr>
          </a:p>
          <a:p>
            <a:pPr lvl="4">
              <a:lnSpc>
                <a:spcPct val="80000"/>
              </a:lnSpc>
            </a:pPr>
            <a:endParaRPr lang="en-US" sz="1400" b="1" dirty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en-US" sz="20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6506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Prototype's Ajax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3886200"/>
            <a:ext cx="8153400" cy="2667000"/>
          </a:xfrm>
        </p:spPr>
        <p:txBody>
          <a:bodyPr/>
          <a:lstStyle/>
          <a:p>
            <a:r>
              <a:rPr lang="en-US" dirty="0"/>
              <a:t>construct a Prototype </a:t>
            </a:r>
            <a:r>
              <a:rPr lang="en-US" dirty="0" err="1"/>
              <a:t>Ajax.Request</a:t>
            </a:r>
            <a:r>
              <a:rPr lang="en-US" dirty="0"/>
              <a:t> object to request a page from a server using Ajax</a:t>
            </a:r>
          </a:p>
          <a:p>
            <a:r>
              <a:rPr lang="en-US" dirty="0"/>
              <a:t>constructor accepts 2 parameters:</a:t>
            </a:r>
          </a:p>
          <a:p>
            <a:pPr marL="881063" lvl="1" indent="-514350">
              <a:buFont typeface="+mj-lt"/>
              <a:buAutoNum type="arabicPeriod"/>
            </a:pPr>
            <a:r>
              <a:rPr lang="en-US" dirty="0"/>
              <a:t>the URL to 1. fetch, as a String,</a:t>
            </a:r>
          </a:p>
          <a:p>
            <a:pPr marL="881063" lvl="1" indent="-514350">
              <a:buFont typeface="+mj-lt"/>
              <a:buAutoNum type="arabicPeriod"/>
            </a:pPr>
            <a:r>
              <a:rPr lang="en-US" dirty="0"/>
              <a:t>a set of options, as an array of key : value pairs in {} braces (an anonymous JS object)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84361"/>
            <a:ext cx="8153400" cy="2308324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new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Ajax.Request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url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",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option : value,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option : value,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...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option : value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);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		         			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JS</a:t>
            </a:r>
          </a:p>
        </p:txBody>
      </p:sp>
    </p:spTree>
    <p:extLst>
      <p:ext uri="{BB962C8B-B14F-4D97-AF65-F5344CB8AC3E}">
        <p14:creationId xmlns:p14="http://schemas.microsoft.com/office/powerpoint/2010/main" val="28401700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Steps to Process AJAXs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461263251"/>
              </p:ext>
            </p:extLst>
          </p:nvPr>
        </p:nvGraphicFramePr>
        <p:xfrm>
          <a:off x="612775" y="1600200"/>
          <a:ext cx="81534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21770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531352" cy="990600"/>
          </a:xfrm>
        </p:spPr>
        <p:txBody>
          <a:bodyPr/>
          <a:lstStyle/>
          <a:p>
            <a:r>
              <a:rPr lang="en-US" sz="4000" dirty="0"/>
              <a:t>Prototype Ajax methods and properties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247249152"/>
              </p:ext>
            </p:extLst>
          </p:nvPr>
        </p:nvGraphicFramePr>
        <p:xfrm>
          <a:off x="533400" y="1676400"/>
          <a:ext cx="8153400" cy="29260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0767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767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b="1" dirty="0"/>
                        <a:t>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method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how to fetch the request from the server (default "post")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parameters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query parameters to pass to the server, if any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asynchronous (default true), </a:t>
                      </a:r>
                      <a:r>
                        <a:rPr lang="en-US" sz="2400" dirty="0" err="1">
                          <a:effectLst/>
                        </a:rPr>
                        <a:t>contentType</a:t>
                      </a:r>
                      <a:r>
                        <a:rPr lang="en-US" sz="2400" dirty="0">
                          <a:effectLst/>
                        </a:rPr>
                        <a:t>, encoding, </a:t>
                      </a:r>
                      <a:r>
                        <a:rPr lang="en-US" sz="2400" dirty="0" err="1">
                          <a:effectLst/>
                        </a:rPr>
                        <a:t>requestHeaders</a:t>
                      </a:r>
                      <a:endParaRPr lang="en-US" sz="2400" dirty="0">
                        <a:effectLst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14400" y="4950768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  <a:hlinkClick r:id="rId2"/>
              </a:rPr>
              <a:t>options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that can be passed to the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Ajax.Request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constructor </a:t>
            </a:r>
            <a:endParaRPr kumimoji="0" 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5650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460" y="253692"/>
            <a:ext cx="8991600" cy="990600"/>
          </a:xfrm>
        </p:spPr>
        <p:txBody>
          <a:bodyPr/>
          <a:lstStyle/>
          <a:p>
            <a:r>
              <a:rPr lang="en-US" sz="4000" dirty="0"/>
              <a:t>Prototype Ajax methods and properties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14400" y="4950768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events in the </a:t>
            </a:r>
            <a:r>
              <a:rPr lang="en-US" sz="2400" dirty="0" err="1"/>
              <a:t>Ajax.Request</a:t>
            </a:r>
            <a:r>
              <a:rPr lang="en-US" sz="2400" dirty="0"/>
              <a:t> object that you can handle</a:t>
            </a:r>
            <a:endParaRPr kumimoji="0" 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21758620"/>
              </p:ext>
            </p:extLst>
          </p:nvPr>
        </p:nvGraphicFramePr>
        <p:xfrm>
          <a:off x="533400" y="1752600"/>
          <a:ext cx="8153400" cy="21945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0767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767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b="1" dirty="0"/>
                        <a:t>event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 err="1"/>
                        <a:t>onSuccess</a:t>
                      </a:r>
                      <a:r>
                        <a:rPr lang="en-US" sz="2400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request completed successfully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 err="1"/>
                        <a:t>onFailure</a:t>
                      </a:r>
                      <a:r>
                        <a:rPr lang="en-US" sz="2400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request was unsuccessful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 err="1"/>
                        <a:t>onException</a:t>
                      </a:r>
                      <a:r>
                        <a:rPr lang="en-US" sz="2400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request has a syntax error, security error, etc.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76863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Prototype Ajax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4792169"/>
            <a:ext cx="8153400" cy="923330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function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handleRequest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ajax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alert(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ajax.responseText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		         		  	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JS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764009"/>
              </p:ext>
            </p:extLst>
          </p:nvPr>
        </p:nvGraphicFramePr>
        <p:xfrm>
          <a:off x="612775" y="1661160"/>
          <a:ext cx="8153400" cy="26517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2066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946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b="1" dirty="0"/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status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the request's HTTP error code (200 = OK, etc.)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 err="1"/>
                        <a:t>statusText</a:t>
                      </a:r>
                      <a:r>
                        <a:rPr lang="en-US" sz="2400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HTTP error code text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 err="1"/>
                        <a:t>responseText</a:t>
                      </a:r>
                      <a:r>
                        <a:rPr lang="en-US" sz="2400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the entire text of the fetched page, as a String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 err="1"/>
                        <a:t>responseXML</a:t>
                      </a:r>
                      <a:r>
                        <a:rPr lang="en-US" sz="2400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the entire contents of the fetched page, as an XML DOM tree (seen later)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51371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XMLHttpRequest</a:t>
            </a:r>
            <a:r>
              <a:rPr lang="en-US" dirty="0"/>
              <a:t> security restrictions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6324" y="4623273"/>
            <a:ext cx="8837676" cy="1828800"/>
          </a:xfrm>
        </p:spPr>
        <p:txBody>
          <a:bodyPr/>
          <a:lstStyle/>
          <a:p>
            <a:r>
              <a:rPr lang="en-US" sz="2800" dirty="0"/>
              <a:t>cannot be run from a web page stored on your hard drive</a:t>
            </a:r>
          </a:p>
          <a:p>
            <a:r>
              <a:rPr lang="en-US" sz="2800" dirty="0"/>
              <a:t>can only be run on a web page stored on a web server</a:t>
            </a:r>
          </a:p>
          <a:p>
            <a:r>
              <a:rPr lang="en-US" sz="2800" dirty="0"/>
              <a:t>can only fetch files from the same site that the page is on </a:t>
            </a:r>
            <a:r>
              <a:rPr lang="en-US" sz="2400" dirty="0"/>
              <a:t>www.foo.com/a/b/c.html can only fetch from www.foo.com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787" y="1600200"/>
            <a:ext cx="6448425" cy="300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91916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Ajax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5181600"/>
            <a:ext cx="8153400" cy="914400"/>
          </a:xfrm>
        </p:spPr>
        <p:txBody>
          <a:bodyPr/>
          <a:lstStyle/>
          <a:p>
            <a:r>
              <a:rPr lang="en-US" dirty="0"/>
              <a:t>for user's (and developer's) benefit, show an error message if a request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76400"/>
            <a:ext cx="8153400" cy="4801314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new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Ajax.Request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url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",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method: "get",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onSuccess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functionName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onFailure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ajaxFailure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onException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ajaxFailure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...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function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ajaxFailure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ajax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exception)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alert("Error making Ajax request:" + "\n\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nServer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status:\n" +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ajax.status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+ " " +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ajax.statusText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+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"\n\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nServer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response text:\n" +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ajax.responseText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if (exception)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	throw exception;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		         		  	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JS</a:t>
            </a:r>
          </a:p>
        </p:txBody>
      </p:sp>
    </p:spTree>
    <p:extLst>
      <p:ext uri="{BB962C8B-B14F-4D97-AF65-F5344CB8AC3E}">
        <p14:creationId xmlns:p14="http://schemas.microsoft.com/office/powerpoint/2010/main" val="21140764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Ajax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7848" y="4838700"/>
            <a:ext cx="8909304" cy="838200"/>
          </a:xfrm>
        </p:spPr>
        <p:txBody>
          <a:bodyPr/>
          <a:lstStyle/>
          <a:p>
            <a:r>
              <a:rPr lang="en-US" dirty="0"/>
              <a:t>Net tab shows each request, its parameters, response, any errors</a:t>
            </a:r>
          </a:p>
          <a:p>
            <a:r>
              <a:rPr lang="en-US" dirty="0"/>
              <a:t>expand a request with + and look at Response tab to see Ajax result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830580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96026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POST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852" y="1667470"/>
            <a:ext cx="8153400" cy="2862322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new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Ajax.Request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url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",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method: "post",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// optional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parameters: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{ name: value, name: value, ..., name: value },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onSuccess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functionName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onFailure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functionName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onException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functionName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);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		         		  	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JS</a:t>
            </a:r>
          </a:p>
        </p:txBody>
      </p:sp>
    </p:spTree>
    <p:extLst>
      <p:ext uri="{BB962C8B-B14F-4D97-AF65-F5344CB8AC3E}">
        <p14:creationId xmlns:p14="http://schemas.microsoft.com/office/powerpoint/2010/main" val="42649888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POST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524000"/>
            <a:ext cx="8153400" cy="2743200"/>
          </a:xfrm>
        </p:spPr>
        <p:txBody>
          <a:bodyPr/>
          <a:lstStyle/>
          <a:p>
            <a:r>
              <a:rPr lang="en-US" dirty="0" err="1"/>
              <a:t>Ajax.Request</a:t>
            </a:r>
            <a:r>
              <a:rPr lang="en-US" dirty="0"/>
              <a:t> can also be used to post data to a web server</a:t>
            </a:r>
          </a:p>
          <a:p>
            <a:r>
              <a:rPr lang="en-US" dirty="0"/>
              <a:t>method should be changed to "post" (or omitted; post is default)</a:t>
            </a:r>
          </a:p>
          <a:p>
            <a:r>
              <a:rPr lang="en-US" dirty="0"/>
              <a:t>any query parameters should be passed as a parameters parameter</a:t>
            </a:r>
          </a:p>
          <a:p>
            <a:pPr lvl="1"/>
            <a:r>
              <a:rPr lang="en-US" dirty="0"/>
              <a:t>written between {} braces as a set of name : value pairs (another anonymous object)</a:t>
            </a:r>
          </a:p>
          <a:p>
            <a:pPr lvl="1"/>
            <a:r>
              <a:rPr lang="en-US" dirty="0"/>
              <a:t>get request parameters can also be passed this way, if you like</a:t>
            </a:r>
          </a:p>
        </p:txBody>
      </p:sp>
    </p:spTree>
    <p:extLst>
      <p:ext uri="{BB962C8B-B14F-4D97-AF65-F5344CB8AC3E}">
        <p14:creationId xmlns:p14="http://schemas.microsoft.com/office/powerpoint/2010/main" val="22465360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Prototype's Ajax Updater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3886200"/>
            <a:ext cx="8153400" cy="2286000"/>
          </a:xfrm>
        </p:spPr>
        <p:txBody>
          <a:bodyPr/>
          <a:lstStyle/>
          <a:p>
            <a:r>
              <a:rPr lang="en-US" dirty="0" err="1"/>
              <a:t>Ajax.Updater</a:t>
            </a:r>
            <a:r>
              <a:rPr lang="en-US" dirty="0"/>
              <a:t> fetches a file and injects its content into an element as </a:t>
            </a:r>
            <a:r>
              <a:rPr lang="en-US" dirty="0" err="1"/>
              <a:t>innerHTML</a:t>
            </a:r>
            <a:endParaRPr lang="en-US" dirty="0"/>
          </a:p>
          <a:p>
            <a:r>
              <a:rPr lang="en-US" dirty="0"/>
              <a:t>additional (1st) parameter specifies the id of element to inject into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852" y="1667470"/>
            <a:ext cx="8153400" cy="2031325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new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Ajax.Updater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"id",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"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url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",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	method: "get"</a:t>
            </a:r>
          </a:p>
          <a:p>
            <a:r>
              <a:rPr lang="en-US">
                <a:latin typeface="Courier New" pitchFamily="49" charset="0"/>
                <a:cs typeface="Courier New" pitchFamily="49" charset="0"/>
              </a:rPr>
              <a:t>	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);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		         		  	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JS</a:t>
            </a:r>
          </a:p>
        </p:txBody>
      </p:sp>
    </p:spTree>
    <p:extLst>
      <p:ext uri="{BB962C8B-B14F-4D97-AF65-F5344CB8AC3E}">
        <p14:creationId xmlns:p14="http://schemas.microsoft.com/office/powerpoint/2010/main" val="21831987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5" dirty="0">
                <a:latin typeface="Wingdings"/>
                <a:cs typeface="Wingdings"/>
              </a:rPr>
              <a:t></a:t>
            </a:r>
            <a:r>
              <a:rPr lang="en-IN" spc="-20" dirty="0"/>
              <a:t> </a:t>
            </a:r>
            <a:r>
              <a:rPr lang="en-IN" dirty="0"/>
              <a:t>Benefits</a:t>
            </a:r>
            <a:r>
              <a:rPr lang="en-IN" spc="-20" dirty="0"/>
              <a:t> </a:t>
            </a:r>
            <a:r>
              <a:rPr lang="en-IN" spc="-5" dirty="0"/>
              <a:t>of </a:t>
            </a:r>
            <a:r>
              <a:rPr lang="en-IN" dirty="0"/>
              <a:t>using</a:t>
            </a:r>
            <a:r>
              <a:rPr lang="en-IN" spc="-20" dirty="0"/>
              <a:t> </a:t>
            </a:r>
            <a:r>
              <a:rPr lang="en-IN" spc="-5" dirty="0"/>
              <a:t>Ajax </a:t>
            </a:r>
            <a:r>
              <a:rPr lang="en-IN" spc="-5" dirty="0">
                <a:latin typeface="Wingdings"/>
                <a:cs typeface="Wingdings"/>
              </a:rPr>
              <a:t>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572000"/>
          </a:xfrm>
        </p:spPr>
        <p:txBody>
          <a:bodyPr/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  <a:tab pos="356235" algn="l"/>
                <a:tab pos="2231390" algn="l"/>
              </a:tabLst>
            </a:pPr>
            <a:r>
              <a:rPr lang="en-IN"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Helps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 to</a:t>
            </a:r>
            <a:r>
              <a:rPr lang="en-IN" sz="24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build	</a:t>
            </a:r>
            <a:r>
              <a:rPr lang="en-IN"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fast,</a:t>
            </a:r>
            <a:r>
              <a:rPr lang="en-IN" sz="24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dynamic</a:t>
            </a:r>
            <a:r>
              <a:rPr lang="en-IN" sz="24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websites.</a:t>
            </a:r>
            <a:endParaRPr lang="en-IN" sz="2400" dirty="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  <a:tab pos="356235" algn="l"/>
              </a:tabLst>
            </a:pPr>
            <a:r>
              <a:rPr lang="en-IN"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Improves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sharing of resources : it facilitates to </a:t>
            </a:r>
            <a:r>
              <a:rPr lang="en-IN"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use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the power </a:t>
            </a:r>
            <a:r>
              <a:rPr lang="en-IN" sz="24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lang="en-IN" sz="24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all</a:t>
            </a:r>
            <a:r>
              <a:rPr lang="en-IN" sz="24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lang="en-IN" sz="24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client</a:t>
            </a:r>
            <a:r>
              <a:rPr lang="en-IN" sz="2400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computers</a:t>
            </a:r>
            <a:r>
              <a:rPr lang="en-IN" sz="24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rather</a:t>
            </a:r>
            <a:r>
              <a:rPr lang="en-IN" sz="24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than</a:t>
            </a:r>
            <a:r>
              <a:rPr lang="en-IN" sz="24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just</a:t>
            </a:r>
            <a:r>
              <a:rPr lang="en-IN" sz="24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lang="en-IN"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unique</a:t>
            </a:r>
            <a:r>
              <a:rPr lang="en-IN" sz="24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server</a:t>
            </a:r>
            <a:r>
              <a:rPr lang="en-IN" sz="24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and </a:t>
            </a:r>
            <a:r>
              <a:rPr lang="en-IN" sz="2400" spc="-58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network.</a:t>
            </a:r>
            <a:endParaRPr lang="en-IN" sz="2400" dirty="0">
              <a:latin typeface="Times New Roman"/>
              <a:cs typeface="Times New Roman"/>
            </a:endParaRPr>
          </a:p>
          <a:p>
            <a:pPr marL="355600" marR="160020" indent="-343535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  <a:tab pos="356235" algn="l"/>
              </a:tabLst>
            </a:pP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Ajax allows to perform processing on client </a:t>
            </a:r>
            <a:r>
              <a:rPr lang="en-IN"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computer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(in </a:t>
            </a:r>
            <a:r>
              <a:rPr lang="en-IN" sz="24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JavaScript)</a:t>
            </a:r>
            <a:r>
              <a:rPr lang="en-IN" sz="2400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with</a:t>
            </a:r>
            <a:r>
              <a:rPr lang="en-IN" sz="24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data</a:t>
            </a:r>
            <a:r>
              <a:rPr lang="en-IN" sz="2400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taken</a:t>
            </a:r>
            <a:r>
              <a:rPr lang="en-IN" sz="24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from</a:t>
            </a:r>
            <a:r>
              <a:rPr lang="en-IN" sz="24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lang="en-IN" sz="24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server</a:t>
            </a:r>
            <a:r>
              <a:rPr lang="en-IN" sz="24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thereby</a:t>
            </a:r>
            <a:r>
              <a:rPr lang="en-IN" sz="2400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reducing </a:t>
            </a:r>
            <a:r>
              <a:rPr lang="en-IN" sz="2400" spc="-58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server load by </a:t>
            </a:r>
            <a:r>
              <a:rPr lang="en-IN"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moving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a part of server functionality to client </a:t>
            </a:r>
            <a:r>
              <a:rPr lang="en-IN" sz="2400" spc="-58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side.</a:t>
            </a:r>
            <a:endParaRPr lang="en-IN" sz="2400" dirty="0">
              <a:latin typeface="Times New Roman"/>
              <a:cs typeface="Times New Roman"/>
            </a:endParaRPr>
          </a:p>
          <a:p>
            <a:pPr marL="355600" marR="85090" indent="-343535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  <a:tab pos="356235" algn="l"/>
              </a:tabLst>
            </a:pP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Ajax</a:t>
            </a:r>
            <a:r>
              <a:rPr lang="en-IN" sz="24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can</a:t>
            </a:r>
            <a:r>
              <a:rPr lang="en-IN"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selectively</a:t>
            </a:r>
            <a:r>
              <a:rPr lang="en-IN" sz="2400" spc="-6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modify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 a</a:t>
            </a:r>
            <a:r>
              <a:rPr lang="en-IN" sz="24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part</a:t>
            </a:r>
            <a:r>
              <a:rPr lang="en-IN" sz="24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lang="en-IN" sz="24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lang="en-IN"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page</a:t>
            </a:r>
            <a:r>
              <a:rPr lang="en-IN"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displayed</a:t>
            </a:r>
            <a:r>
              <a:rPr lang="en-IN" sz="24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by</a:t>
            </a:r>
            <a:r>
              <a:rPr lang="en-IN"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the </a:t>
            </a:r>
            <a:r>
              <a:rPr lang="en-IN" sz="2400" spc="-58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browser, and update it without the need to reload the whole </a:t>
            </a:r>
            <a:r>
              <a:rPr lang="en-IN" sz="24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document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with all </a:t>
            </a:r>
            <a:r>
              <a:rPr lang="en-IN"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images, menus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etc. This bridges the gap </a:t>
            </a:r>
            <a:r>
              <a:rPr lang="en-IN" sz="24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between</a:t>
            </a:r>
            <a:r>
              <a:rPr lang="en-IN" sz="24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desktop</a:t>
            </a:r>
            <a:r>
              <a:rPr lang="en-IN" sz="24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and</a:t>
            </a:r>
            <a:r>
              <a:rPr lang="en-IN" sz="24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IN"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web</a:t>
            </a:r>
            <a:r>
              <a:rPr lang="en-IN" sz="2400" dirty="0">
                <a:solidFill>
                  <a:srgbClr val="006FC0"/>
                </a:solidFill>
                <a:latin typeface="Times New Roman"/>
                <a:cs typeface="Times New Roman"/>
              </a:rPr>
              <a:t> applications.</a:t>
            </a:r>
            <a:endParaRPr lang="en-IN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708674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Wingdings"/>
                <a:cs typeface="Wingdings"/>
              </a:rPr>
              <a:t></a:t>
            </a:r>
            <a:r>
              <a:rPr lang="en-IN" spc="-30" dirty="0"/>
              <a:t> </a:t>
            </a:r>
            <a:r>
              <a:rPr lang="en-IN" spc="-5" dirty="0"/>
              <a:t>A</a:t>
            </a:r>
            <a:r>
              <a:rPr lang="en-IN" spc="-20" dirty="0"/>
              <a:t> </a:t>
            </a:r>
            <a:r>
              <a:rPr lang="en-IN" spc="-5" dirty="0"/>
              <a:t>Few</a:t>
            </a:r>
            <a:r>
              <a:rPr lang="en-IN" dirty="0"/>
              <a:t> </a:t>
            </a:r>
            <a:r>
              <a:rPr lang="en-IN" spc="-5" dirty="0"/>
              <a:t>Drawbacks</a:t>
            </a:r>
            <a:r>
              <a:rPr lang="en-IN" spc="10" dirty="0"/>
              <a:t> </a:t>
            </a:r>
            <a:r>
              <a:rPr lang="en-IN" dirty="0">
                <a:latin typeface="Wingdings"/>
                <a:cs typeface="Wingdings"/>
              </a:rPr>
              <a:t>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572000"/>
          </a:xfrm>
        </p:spPr>
        <p:txBody>
          <a:bodyPr/>
          <a:lstStyle/>
          <a:p>
            <a:pPr marL="355600" marR="19177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If JavaScript is </a:t>
            </a:r>
            <a:r>
              <a:rPr lang="en-IN" sz="2400" spc="-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not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activated, Ajax </a:t>
            </a:r>
            <a:r>
              <a:rPr lang="en-IN" sz="2400" spc="-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can't works.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The user </a:t>
            </a:r>
            <a:r>
              <a:rPr lang="en-IN" sz="2400" spc="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spc="-1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must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be</a:t>
            </a:r>
            <a:r>
              <a:rPr lang="en-IN" sz="2400" spc="-1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asked</a:t>
            </a:r>
            <a:r>
              <a:rPr lang="en-IN" sz="2400" spc="-2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to</a:t>
            </a:r>
            <a:r>
              <a:rPr lang="en-IN" sz="2400" spc="-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set</a:t>
            </a:r>
            <a:r>
              <a:rPr lang="en-IN" sz="2400" spc="-2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JavaScript</a:t>
            </a:r>
            <a:r>
              <a:rPr lang="en-IN" sz="2400" spc="-2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from</a:t>
            </a:r>
            <a:r>
              <a:rPr lang="en-IN" sz="2400" spc="-2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within</a:t>
            </a:r>
            <a:r>
              <a:rPr lang="en-IN" sz="2400" spc="-2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options</a:t>
            </a:r>
            <a:r>
              <a:rPr lang="en-IN" sz="2400" spc="-3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of</a:t>
            </a:r>
            <a:r>
              <a:rPr lang="en-IN" sz="2400" spc="-1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the </a:t>
            </a:r>
            <a:r>
              <a:rPr lang="en-IN" sz="2400" spc="-58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browser,</a:t>
            </a:r>
            <a:r>
              <a:rPr lang="en-IN" sz="2400" spc="-2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with the</a:t>
            </a:r>
            <a:r>
              <a:rPr lang="en-IN" sz="2400" spc="-1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"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noscript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"</a:t>
            </a:r>
            <a:r>
              <a:rPr lang="en-IN" sz="2400" spc="-5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tag.</a:t>
            </a:r>
          </a:p>
          <a:p>
            <a:pPr marL="355600" marR="5080" indent="-343535">
              <a:lnSpc>
                <a:spcPct val="100000"/>
              </a:lnSpc>
              <a:spcBef>
                <a:spcPts val="1730"/>
              </a:spcBef>
              <a:buChar char="•"/>
              <a:tabLst>
                <a:tab pos="355600" algn="l"/>
                <a:tab pos="356235" algn="l"/>
              </a:tabLst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Since data to display are loaded </a:t>
            </a:r>
            <a:r>
              <a:rPr lang="en-IN" sz="2400" spc="-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dynamically,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they are not </a:t>
            </a:r>
            <a:r>
              <a:rPr lang="en-IN" sz="2400" spc="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part</a:t>
            </a:r>
            <a:r>
              <a:rPr lang="en-IN" sz="2400" spc="-4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of the</a:t>
            </a:r>
            <a:r>
              <a:rPr lang="en-IN" sz="2400" spc="-1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page,</a:t>
            </a:r>
            <a:r>
              <a:rPr lang="en-IN" sz="2400" spc="-1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and</a:t>
            </a:r>
            <a:r>
              <a:rPr lang="en-IN" sz="2400" spc="-1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the</a:t>
            </a:r>
            <a:r>
              <a:rPr lang="en-IN" sz="2400" spc="-1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spc="-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keywords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inside</a:t>
            </a:r>
            <a:r>
              <a:rPr lang="en-IN" sz="2400" spc="-2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are </a:t>
            </a:r>
            <a:r>
              <a:rPr lang="en-IN" sz="2400" spc="-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not</a:t>
            </a:r>
            <a:r>
              <a:rPr lang="en-IN" sz="2400" spc="-1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viewed</a:t>
            </a:r>
            <a:r>
              <a:rPr lang="en-IN" sz="2400" spc="-2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by </a:t>
            </a:r>
            <a:r>
              <a:rPr lang="en-IN" sz="2400" spc="-58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spc="-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search</a:t>
            </a:r>
            <a:r>
              <a:rPr lang="en-IN" sz="2400" spc="-4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engines.</a:t>
            </a:r>
          </a:p>
          <a:p>
            <a:pPr marL="355600" marR="173355" indent="-343535">
              <a:lnSpc>
                <a:spcPct val="100000"/>
              </a:lnSpc>
              <a:spcBef>
                <a:spcPts val="1730"/>
              </a:spcBef>
              <a:buChar char="•"/>
              <a:tabLst>
                <a:tab pos="355600" algn="l"/>
                <a:tab pos="356235" algn="l"/>
              </a:tabLst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The</a:t>
            </a:r>
            <a:r>
              <a:rPr lang="en-IN" sz="2400" spc="-3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asynchronous</a:t>
            </a:r>
            <a:r>
              <a:rPr lang="en-IN" sz="2400" spc="-2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spc="-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mode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spc="-1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may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change</a:t>
            </a:r>
            <a:r>
              <a:rPr lang="en-IN" sz="2400" spc="-2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the</a:t>
            </a:r>
            <a:r>
              <a:rPr lang="en-IN" sz="2400" spc="-3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page</a:t>
            </a:r>
            <a:r>
              <a:rPr lang="en-IN" sz="2400" spc="-2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with</a:t>
            </a:r>
            <a:r>
              <a:rPr lang="en-IN" sz="2400" spc="-1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delays </a:t>
            </a:r>
            <a:r>
              <a:rPr lang="en-IN" sz="2400" spc="-58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spc="-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(when the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processing on the server takes </a:t>
            </a:r>
            <a:r>
              <a:rPr lang="en-IN" sz="2400" spc="-1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more </a:t>
            </a:r>
            <a:r>
              <a:rPr lang="en-IN" sz="2400" spc="-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time),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this </a:t>
            </a:r>
            <a:r>
              <a:rPr lang="en-IN" sz="2400" spc="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spc="-1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may</a:t>
            </a:r>
            <a:r>
              <a:rPr lang="en-IN" sz="2400" spc="-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be</a:t>
            </a:r>
            <a:r>
              <a:rPr lang="en-IN" sz="2400" spc="-1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disturbing.</a:t>
            </a:r>
          </a:p>
          <a:p>
            <a:pPr marL="355600" indent="-343535">
              <a:lnSpc>
                <a:spcPct val="100000"/>
              </a:lnSpc>
              <a:spcBef>
                <a:spcPts val="1730"/>
              </a:spcBef>
              <a:buChar char="•"/>
              <a:tabLst>
                <a:tab pos="355600" algn="l"/>
                <a:tab pos="356235" algn="l"/>
              </a:tabLst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The</a:t>
            </a:r>
            <a:r>
              <a:rPr lang="en-IN" sz="2400" spc="-4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back</a:t>
            </a:r>
            <a:r>
              <a:rPr lang="en-IN" sz="2400" spc="-2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button</a:t>
            </a:r>
            <a:r>
              <a:rPr lang="en-IN" sz="2400" spc="-3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spc="-1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may</a:t>
            </a:r>
            <a:r>
              <a:rPr lang="en-IN" sz="2400" spc="-5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be</a:t>
            </a:r>
            <a:r>
              <a:rPr lang="en-IN" sz="2400" spc="-2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/>
                <a:cs typeface="Times New Roman"/>
              </a:rPr>
              <a:t>deactivated.</a:t>
            </a:r>
          </a:p>
        </p:txBody>
      </p:sp>
    </p:spTree>
    <p:extLst>
      <p:ext uri="{BB962C8B-B14F-4D97-AF65-F5344CB8AC3E}">
        <p14:creationId xmlns:p14="http://schemas.microsoft.com/office/powerpoint/2010/main" val="31568596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649" y="4681144"/>
            <a:ext cx="4926757" cy="17889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676400"/>
            <a:ext cx="4155165" cy="25433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95" y="4349645"/>
            <a:ext cx="4120872" cy="33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448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954" y="3328580"/>
            <a:ext cx="7433703" cy="14720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54" y="1824144"/>
            <a:ext cx="3560753" cy="135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817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070" y="381000"/>
            <a:ext cx="4733449" cy="516969"/>
          </a:xfrm>
          <a:prstGeom prst="rect">
            <a:avLst/>
          </a:prstGeom>
        </p:spPr>
        <p:txBody>
          <a:bodyPr vert="horz" wrap="square" lIns="0" tIns="904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1"/>
              </a:spcBef>
            </a:pPr>
            <a:r>
              <a:rPr sz="3300" spc="-101" dirty="0"/>
              <a:t>A</a:t>
            </a:r>
            <a:r>
              <a:rPr sz="3300" spc="-153" dirty="0"/>
              <a:t>J</a:t>
            </a:r>
            <a:r>
              <a:rPr sz="3300" spc="-75" dirty="0"/>
              <a:t>A</a:t>
            </a:r>
            <a:r>
              <a:rPr sz="3300" spc="-4" dirty="0"/>
              <a:t>X</a:t>
            </a:r>
            <a:r>
              <a:rPr sz="3300" spc="-165" dirty="0"/>
              <a:t> </a:t>
            </a:r>
            <a:r>
              <a:rPr sz="3300" spc="-79" dirty="0"/>
              <a:t>E</a:t>
            </a:r>
            <a:r>
              <a:rPr sz="3300" spc="-124" dirty="0"/>
              <a:t>x</a:t>
            </a:r>
            <a:r>
              <a:rPr sz="3300" spc="-79" dirty="0"/>
              <a:t>a</a:t>
            </a:r>
            <a:r>
              <a:rPr sz="3300" spc="-71" dirty="0"/>
              <a:t>m</a:t>
            </a:r>
            <a:r>
              <a:rPr sz="3300" spc="-79" dirty="0"/>
              <a:t>p</a:t>
            </a:r>
            <a:r>
              <a:rPr sz="3300" spc="-75" dirty="0"/>
              <a:t>l</a:t>
            </a:r>
            <a:r>
              <a:rPr sz="3300" spc="-4" dirty="0"/>
              <a:t>e</a:t>
            </a:r>
            <a:r>
              <a:rPr sz="3300" spc="-146" dirty="0"/>
              <a:t> </a:t>
            </a:r>
            <a:r>
              <a:rPr sz="3300" spc="-4" dirty="0"/>
              <a:t>–</a:t>
            </a:r>
            <a:r>
              <a:rPr sz="3300" spc="-146" dirty="0"/>
              <a:t> </a:t>
            </a:r>
            <a:r>
              <a:rPr sz="3300" spc="-71" dirty="0">
                <a:solidFill>
                  <a:srgbClr val="FF0000"/>
                </a:solidFill>
              </a:rPr>
              <a:t>t</a:t>
            </a:r>
            <a:r>
              <a:rPr sz="3300" spc="-79" dirty="0">
                <a:solidFill>
                  <a:srgbClr val="FF0000"/>
                </a:solidFill>
              </a:rPr>
              <a:t>a</a:t>
            </a:r>
            <a:r>
              <a:rPr sz="3300" spc="-75" dirty="0">
                <a:solidFill>
                  <a:srgbClr val="FF0000"/>
                </a:solidFill>
              </a:rPr>
              <a:t>bl</a:t>
            </a:r>
            <a:r>
              <a:rPr sz="3300" spc="-79" dirty="0">
                <a:solidFill>
                  <a:srgbClr val="FF0000"/>
                </a:solidFill>
              </a:rPr>
              <a:t>e</a:t>
            </a:r>
            <a:r>
              <a:rPr sz="3300" spc="-75" dirty="0">
                <a:solidFill>
                  <a:srgbClr val="FF0000"/>
                </a:solidFill>
              </a:rPr>
              <a:t>.</a:t>
            </a:r>
            <a:r>
              <a:rPr sz="3300" spc="-79" dirty="0">
                <a:solidFill>
                  <a:srgbClr val="FF0000"/>
                </a:solidFill>
              </a:rPr>
              <a:t>h</a:t>
            </a:r>
            <a:r>
              <a:rPr sz="3300" spc="-71" dirty="0">
                <a:solidFill>
                  <a:srgbClr val="FF0000"/>
                </a:solidFill>
              </a:rPr>
              <a:t>t</a:t>
            </a:r>
            <a:r>
              <a:rPr sz="3300" spc="-75" dirty="0">
                <a:solidFill>
                  <a:srgbClr val="FF0000"/>
                </a:solidFill>
              </a:rPr>
              <a:t>m</a:t>
            </a:r>
            <a:r>
              <a:rPr sz="3300" spc="-4" dirty="0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xfrm>
            <a:off x="304800" y="1696300"/>
            <a:ext cx="3638550" cy="4731839"/>
          </a:xfrm>
          <a:prstGeom prst="rect">
            <a:avLst/>
          </a:prstGeom>
        </p:spPr>
        <p:txBody>
          <a:bodyPr vert="horz" wrap="square" lIns="0" tIns="41433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spcBef>
                <a:spcPts val="326"/>
              </a:spcBef>
              <a:buNone/>
            </a:pPr>
            <a:r>
              <a:rPr sz="1600" dirty="0">
                <a:solidFill>
                  <a:srgbClr val="008080"/>
                </a:solidFill>
              </a:rPr>
              <a:t>&lt;</a:t>
            </a:r>
            <a:r>
              <a:rPr sz="1600" dirty="0"/>
              <a:t>html</a:t>
            </a:r>
            <a:r>
              <a:rPr sz="1600" dirty="0">
                <a:solidFill>
                  <a:srgbClr val="008080"/>
                </a:solidFill>
              </a:rPr>
              <a:t>&gt;</a:t>
            </a:r>
          </a:p>
          <a:p>
            <a:pPr marL="0" indent="0">
              <a:spcBef>
                <a:spcPts val="251"/>
              </a:spcBef>
              <a:buNone/>
            </a:pPr>
            <a:r>
              <a:rPr sz="1600" dirty="0">
                <a:solidFill>
                  <a:srgbClr val="008080"/>
                </a:solidFill>
              </a:rPr>
              <a:t>&lt;</a:t>
            </a:r>
            <a:r>
              <a:rPr sz="1600" dirty="0"/>
              <a:t>head</a:t>
            </a:r>
            <a:r>
              <a:rPr sz="1600" dirty="0">
                <a:solidFill>
                  <a:srgbClr val="008080"/>
                </a:solidFill>
              </a:rPr>
              <a:t>&gt;</a:t>
            </a:r>
          </a:p>
          <a:p>
            <a:pPr marL="0" indent="0">
              <a:spcBef>
                <a:spcPts val="251"/>
              </a:spcBef>
              <a:buNone/>
            </a:pPr>
            <a:r>
              <a:rPr sz="1600" dirty="0">
                <a:solidFill>
                  <a:srgbClr val="008080"/>
                </a:solidFill>
              </a:rPr>
              <a:t>&lt;</a:t>
            </a:r>
            <a:r>
              <a:rPr sz="1600" dirty="0"/>
              <a:t>script</a:t>
            </a:r>
            <a:r>
              <a:rPr sz="1600" dirty="0">
                <a:solidFill>
                  <a:srgbClr val="008080"/>
                </a:solidFill>
              </a:rPr>
              <a:t>&gt;</a:t>
            </a:r>
          </a:p>
          <a:p>
            <a:pPr marL="0" indent="0">
              <a:spcBef>
                <a:spcPts val="255"/>
              </a:spcBef>
              <a:buNone/>
            </a:pPr>
            <a:r>
              <a:rPr sz="1600" dirty="0">
                <a:solidFill>
                  <a:srgbClr val="7E0054"/>
                </a:solidFill>
              </a:rPr>
              <a:t>var</a:t>
            </a:r>
            <a:r>
              <a:rPr sz="1600" spc="-26" dirty="0">
                <a:solidFill>
                  <a:srgbClr val="7E0054"/>
                </a:solidFill>
              </a:rPr>
              <a:t> </a:t>
            </a:r>
            <a:r>
              <a:rPr sz="1600" dirty="0">
                <a:solidFill>
                  <a:srgbClr val="000000"/>
                </a:solidFill>
              </a:rPr>
              <a:t>request;</a:t>
            </a:r>
          </a:p>
          <a:p>
            <a:pPr marL="0" indent="0">
              <a:buNone/>
            </a:pPr>
            <a:r>
              <a:rPr sz="1600" dirty="0">
                <a:solidFill>
                  <a:srgbClr val="7E0054"/>
                </a:solidFill>
              </a:rPr>
              <a:t>function </a:t>
            </a:r>
            <a:r>
              <a:rPr sz="1600" dirty="0">
                <a:solidFill>
                  <a:srgbClr val="000000"/>
                </a:solidFill>
              </a:rPr>
              <a:t>sendInfo()</a:t>
            </a:r>
            <a:r>
              <a:rPr sz="1600" spc="-4" dirty="0">
                <a:solidFill>
                  <a:srgbClr val="000000"/>
                </a:solidFill>
              </a:rPr>
              <a:t> </a:t>
            </a:r>
            <a:r>
              <a:rPr sz="1600" dirty="0">
                <a:solidFill>
                  <a:srgbClr val="000000"/>
                </a:solidFill>
              </a:rPr>
              <a:t>{</a:t>
            </a:r>
          </a:p>
          <a:p>
            <a:pPr marL="0" marR="594836" indent="0">
              <a:lnSpc>
                <a:spcPct val="120000"/>
              </a:lnSpc>
              <a:buNone/>
            </a:pPr>
            <a:r>
              <a:rPr sz="1600" dirty="0">
                <a:solidFill>
                  <a:srgbClr val="7E0054"/>
                </a:solidFill>
              </a:rPr>
              <a:t>var</a:t>
            </a:r>
            <a:r>
              <a:rPr sz="1600" spc="15" dirty="0">
                <a:solidFill>
                  <a:srgbClr val="7E0054"/>
                </a:solidFill>
              </a:rPr>
              <a:t> </a:t>
            </a:r>
            <a:r>
              <a:rPr sz="1600" dirty="0">
                <a:solidFill>
                  <a:srgbClr val="000000"/>
                </a:solidFill>
              </a:rPr>
              <a:t>v=document.f1.t1.value; </a:t>
            </a:r>
            <a:r>
              <a:rPr sz="1600" spc="-566" dirty="0">
                <a:solidFill>
                  <a:srgbClr val="000000"/>
                </a:solidFill>
              </a:rPr>
              <a:t> </a:t>
            </a:r>
            <a:r>
              <a:rPr sz="1600" dirty="0">
                <a:solidFill>
                  <a:srgbClr val="7E0054"/>
                </a:solidFill>
              </a:rPr>
              <a:t>var</a:t>
            </a:r>
            <a:r>
              <a:rPr sz="1600" spc="8" dirty="0">
                <a:solidFill>
                  <a:srgbClr val="7E0054"/>
                </a:solidFill>
              </a:rPr>
              <a:t> </a:t>
            </a:r>
            <a:r>
              <a:rPr sz="1600" dirty="0">
                <a:solidFill>
                  <a:srgbClr val="000000"/>
                </a:solidFill>
              </a:rPr>
              <a:t>url=</a:t>
            </a:r>
            <a:r>
              <a:rPr sz="1600" dirty="0">
                <a:solidFill>
                  <a:srgbClr val="2A00FF"/>
                </a:solidFill>
              </a:rPr>
              <a:t>"index.jsp?val="</a:t>
            </a:r>
            <a:r>
              <a:rPr sz="1600" dirty="0">
                <a:solidFill>
                  <a:srgbClr val="000000"/>
                </a:solidFill>
              </a:rPr>
              <a:t>+v;</a:t>
            </a:r>
          </a:p>
          <a:p>
            <a:pPr marL="9049" marR="224790" indent="0">
              <a:lnSpc>
                <a:spcPct val="120000"/>
              </a:lnSpc>
              <a:buNone/>
            </a:pPr>
            <a:r>
              <a:rPr sz="1600" dirty="0">
                <a:solidFill>
                  <a:srgbClr val="7E0054"/>
                </a:solidFill>
              </a:rPr>
              <a:t>if</a:t>
            </a:r>
            <a:r>
              <a:rPr sz="1600" dirty="0">
                <a:solidFill>
                  <a:srgbClr val="000000"/>
                </a:solidFill>
              </a:rPr>
              <a:t>(window.XMLHttpRequest){ </a:t>
            </a:r>
            <a:r>
              <a:rPr sz="1600" spc="4" dirty="0">
                <a:solidFill>
                  <a:srgbClr val="000000"/>
                </a:solidFill>
              </a:rPr>
              <a:t> </a:t>
            </a:r>
            <a:r>
              <a:rPr sz="1600" dirty="0">
                <a:solidFill>
                  <a:srgbClr val="000000"/>
                </a:solidFill>
              </a:rPr>
              <a:t>request=</a:t>
            </a:r>
            <a:r>
              <a:rPr sz="1600" dirty="0">
                <a:solidFill>
                  <a:srgbClr val="7E0054"/>
                </a:solidFill>
              </a:rPr>
              <a:t>new</a:t>
            </a:r>
            <a:r>
              <a:rPr sz="1600" spc="30" dirty="0">
                <a:solidFill>
                  <a:srgbClr val="7E0054"/>
                </a:solidFill>
              </a:rPr>
              <a:t> </a:t>
            </a:r>
            <a:r>
              <a:rPr sz="1600" dirty="0">
                <a:solidFill>
                  <a:srgbClr val="000000"/>
                </a:solidFill>
              </a:rPr>
              <a:t>XMLHttpRequest();</a:t>
            </a:r>
          </a:p>
          <a:p>
            <a:pPr marL="0" indent="0">
              <a:spcBef>
                <a:spcPts val="255"/>
              </a:spcBef>
              <a:buNone/>
            </a:pPr>
            <a:r>
              <a:rPr sz="1600" dirty="0">
                <a:solidFill>
                  <a:srgbClr val="000000"/>
                </a:solidFill>
              </a:rPr>
              <a:t>}</a:t>
            </a:r>
          </a:p>
          <a:p>
            <a:pPr marL="0" marR="3810" indent="0">
              <a:lnSpc>
                <a:spcPct val="120100"/>
              </a:lnSpc>
              <a:buNone/>
            </a:pPr>
            <a:r>
              <a:rPr sz="1600" dirty="0" err="1">
                <a:solidFill>
                  <a:srgbClr val="000000"/>
                </a:solidFill>
              </a:rPr>
              <a:t>request.onreadystatechange</a:t>
            </a:r>
            <a:r>
              <a:rPr sz="1600" dirty="0">
                <a:solidFill>
                  <a:srgbClr val="000000"/>
                </a:solidFill>
              </a:rPr>
              <a:t>=getInfo; </a:t>
            </a:r>
            <a:r>
              <a:rPr sz="1600" spc="-566" dirty="0">
                <a:solidFill>
                  <a:srgbClr val="000000"/>
                </a:solidFill>
              </a:rPr>
              <a:t> </a:t>
            </a:r>
            <a:r>
              <a:rPr sz="1600" dirty="0">
                <a:solidFill>
                  <a:srgbClr val="000000"/>
                </a:solidFill>
              </a:rPr>
              <a:t>request.open(</a:t>
            </a:r>
            <a:r>
              <a:rPr sz="1600" dirty="0">
                <a:solidFill>
                  <a:srgbClr val="2A00FF"/>
                </a:solidFill>
              </a:rPr>
              <a:t>"GET"</a:t>
            </a:r>
            <a:r>
              <a:rPr sz="1600" dirty="0">
                <a:solidFill>
                  <a:srgbClr val="000000"/>
                </a:solidFill>
              </a:rPr>
              <a:t>,url,</a:t>
            </a:r>
            <a:r>
              <a:rPr sz="1600" dirty="0">
                <a:solidFill>
                  <a:srgbClr val="7E0054"/>
                </a:solidFill>
              </a:rPr>
              <a:t>true</a:t>
            </a:r>
            <a:r>
              <a:rPr sz="1600" dirty="0">
                <a:solidFill>
                  <a:srgbClr val="000000"/>
                </a:solidFill>
              </a:rPr>
              <a:t>); </a:t>
            </a:r>
            <a:r>
              <a:rPr sz="1600" spc="4" dirty="0">
                <a:solidFill>
                  <a:srgbClr val="000000"/>
                </a:solidFill>
              </a:rPr>
              <a:t> </a:t>
            </a:r>
            <a:r>
              <a:rPr sz="1600" dirty="0">
                <a:solidFill>
                  <a:srgbClr val="000000"/>
                </a:solidFill>
              </a:rPr>
              <a:t>request.send();</a:t>
            </a:r>
          </a:p>
          <a:p>
            <a:pPr marL="0" indent="0">
              <a:buNone/>
            </a:pPr>
            <a:r>
              <a:rPr sz="1600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66261" y="1512452"/>
            <a:ext cx="4777739" cy="533582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92869">
              <a:spcBef>
                <a:spcPts val="360"/>
              </a:spcBef>
            </a:pPr>
            <a:r>
              <a:rPr sz="1600" dirty="0">
                <a:solidFill>
                  <a:srgbClr val="7E0054"/>
                </a:solidFill>
                <a:latin typeface="Consolas"/>
                <a:cs typeface="Consolas"/>
              </a:rPr>
              <a:t>function</a:t>
            </a:r>
            <a:r>
              <a:rPr sz="1600" spc="-8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E2B1F"/>
                </a:solidFill>
                <a:latin typeface="Consolas"/>
                <a:cs typeface="Consolas"/>
              </a:rPr>
              <a:t>getInfo(){</a:t>
            </a:r>
            <a:endParaRPr sz="1600" dirty="0">
              <a:latin typeface="Consolas"/>
              <a:cs typeface="Consolas"/>
            </a:endParaRPr>
          </a:p>
          <a:p>
            <a:pPr marL="82391" marR="741521">
              <a:lnSpc>
                <a:spcPct val="120200"/>
              </a:lnSpc>
              <a:spcBef>
                <a:spcPts val="34"/>
              </a:spcBef>
            </a:pPr>
            <a:r>
              <a:rPr sz="1600" dirty="0">
                <a:solidFill>
                  <a:srgbClr val="7E0054"/>
                </a:solidFill>
                <a:latin typeface="Consolas"/>
                <a:cs typeface="Consolas"/>
              </a:rPr>
              <a:t>if</a:t>
            </a:r>
            <a:r>
              <a:rPr sz="1600" spc="4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2E2B1F"/>
                </a:solidFill>
                <a:latin typeface="Consolas"/>
                <a:cs typeface="Consolas"/>
              </a:rPr>
              <a:t>(</a:t>
            </a:r>
            <a:r>
              <a:rPr sz="1600" dirty="0">
                <a:latin typeface="Consolas"/>
                <a:cs typeface="Consolas"/>
              </a:rPr>
              <a:t>request.readyState==4)</a:t>
            </a:r>
            <a:r>
              <a:rPr sz="1600" spc="11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{ </a:t>
            </a:r>
            <a:r>
              <a:rPr sz="1600" spc="4" dirty="0">
                <a:latin typeface="Consolas"/>
                <a:cs typeface="Consolas"/>
              </a:rPr>
              <a:t> </a:t>
            </a:r>
            <a:endParaRPr lang="en-IN" sz="1600" spc="4" dirty="0">
              <a:latin typeface="Consolas"/>
              <a:cs typeface="Consolas"/>
            </a:endParaRPr>
          </a:p>
          <a:p>
            <a:pPr marL="82391" marR="741521">
              <a:lnSpc>
                <a:spcPct val="120200"/>
              </a:lnSpc>
              <a:spcBef>
                <a:spcPts val="34"/>
              </a:spcBef>
            </a:pPr>
            <a:r>
              <a:rPr sz="1600" dirty="0">
                <a:solidFill>
                  <a:srgbClr val="7E0054"/>
                </a:solidFill>
                <a:latin typeface="Consolas"/>
                <a:cs typeface="Consolas"/>
              </a:rPr>
              <a:t>var</a:t>
            </a:r>
            <a:r>
              <a:rPr lang="en-IN" sz="1600" spc="-64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600" spc="4" dirty="0" err="1">
                <a:latin typeface="Consolas"/>
                <a:cs typeface="Consolas"/>
              </a:rPr>
              <a:t>val</a:t>
            </a:r>
            <a:r>
              <a:rPr sz="1600" spc="4" dirty="0">
                <a:latin typeface="Consolas"/>
                <a:cs typeface="Consolas"/>
              </a:rPr>
              <a:t>=request.responseText;</a:t>
            </a:r>
            <a:endParaRPr sz="1600" dirty="0">
              <a:latin typeface="Consolas"/>
              <a:cs typeface="Consolas"/>
            </a:endParaRPr>
          </a:p>
          <a:p>
            <a:pPr marL="9525" marR="3810">
              <a:spcBef>
                <a:spcPts val="251"/>
              </a:spcBef>
            </a:pPr>
            <a:r>
              <a:rPr lang="en-IN" sz="1600" dirty="0">
                <a:latin typeface="Consolas"/>
                <a:cs typeface="Consolas"/>
              </a:rPr>
              <a:t> </a:t>
            </a:r>
            <a:r>
              <a:rPr sz="1600" dirty="0" err="1">
                <a:latin typeface="Consolas"/>
                <a:cs typeface="Consolas"/>
              </a:rPr>
              <a:t>document.getElementById</a:t>
            </a:r>
            <a:r>
              <a:rPr sz="1600" dirty="0">
                <a:latin typeface="Consolas"/>
                <a:cs typeface="Consolas"/>
              </a:rPr>
              <a:t>('amit').innerHTM </a:t>
            </a:r>
            <a:r>
              <a:rPr sz="1600" spc="-566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L=val;</a:t>
            </a:r>
          </a:p>
          <a:p>
            <a:pPr marL="230029">
              <a:spcBef>
                <a:spcPts val="255"/>
              </a:spcBef>
            </a:pPr>
            <a:r>
              <a:rPr lang="en-IN" sz="1600" dirty="0">
                <a:latin typeface="Consolas"/>
                <a:cs typeface="Consolas"/>
              </a:rPr>
              <a:t>}</a:t>
            </a:r>
          </a:p>
          <a:p>
            <a:pPr marL="156686">
              <a:spcBef>
                <a:spcPts val="251"/>
              </a:spcBef>
            </a:pPr>
            <a:r>
              <a:rPr lang="en-IN" sz="1600" dirty="0">
                <a:latin typeface="Consolas"/>
                <a:cs typeface="Consolas"/>
              </a:rPr>
              <a:t>}</a:t>
            </a:r>
          </a:p>
          <a:p>
            <a:pPr marL="156686">
              <a:spcBef>
                <a:spcPts val="251"/>
              </a:spcBef>
            </a:pPr>
            <a:r>
              <a:rPr sz="1600" dirty="0">
                <a:solidFill>
                  <a:srgbClr val="3E7E7E"/>
                </a:solidFill>
                <a:latin typeface="Consolas"/>
                <a:cs typeface="Consolas"/>
              </a:rPr>
              <a:t>&lt;/script&gt;</a:t>
            </a:r>
            <a:endParaRPr sz="1600" dirty="0">
              <a:latin typeface="Consolas"/>
              <a:cs typeface="Consolas"/>
            </a:endParaRPr>
          </a:p>
          <a:p>
            <a:pPr marL="82391">
              <a:spcBef>
                <a:spcPts val="251"/>
              </a:spcBef>
            </a:pPr>
            <a:r>
              <a:rPr sz="1600" dirty="0">
                <a:solidFill>
                  <a:srgbClr val="3E7E7E"/>
                </a:solidFill>
                <a:latin typeface="Consolas"/>
                <a:cs typeface="Consolas"/>
              </a:rPr>
              <a:t>&lt;/head&gt;</a:t>
            </a:r>
            <a:endParaRPr lang="en-IN" sz="1600" dirty="0">
              <a:solidFill>
                <a:srgbClr val="3E7E7E"/>
              </a:solidFill>
              <a:latin typeface="Consolas"/>
              <a:cs typeface="Consolas"/>
            </a:endParaRPr>
          </a:p>
          <a:p>
            <a:pPr marL="82391">
              <a:spcBef>
                <a:spcPts val="315"/>
              </a:spcBef>
            </a:pPr>
            <a:r>
              <a:rPr lang="en-IN" sz="1600" dirty="0">
                <a:solidFill>
                  <a:srgbClr val="3E7E7E"/>
                </a:solidFill>
                <a:latin typeface="Consolas"/>
                <a:cs typeface="Consolas"/>
              </a:rPr>
              <a:t>&lt;body&gt;</a:t>
            </a:r>
            <a:endParaRPr lang="en-IN" sz="1600" dirty="0">
              <a:latin typeface="Consolas"/>
              <a:cs typeface="Consolas"/>
            </a:endParaRPr>
          </a:p>
          <a:p>
            <a:pPr marL="39052">
              <a:spcBef>
                <a:spcPts val="244"/>
              </a:spcBef>
            </a:pPr>
            <a:r>
              <a:rPr lang="en-IN" sz="1600" spc="-4" dirty="0">
                <a:latin typeface="Consolas"/>
                <a:cs typeface="Consolas"/>
              </a:rPr>
              <a:t>&lt;h1&gt;This</a:t>
            </a:r>
            <a:r>
              <a:rPr lang="en-IN" sz="1600" spc="26" dirty="0">
                <a:latin typeface="Consolas"/>
                <a:cs typeface="Consolas"/>
              </a:rPr>
              <a:t> </a:t>
            </a:r>
            <a:r>
              <a:rPr lang="en-IN" sz="1600" spc="-4" dirty="0">
                <a:latin typeface="Consolas"/>
                <a:cs typeface="Consolas"/>
              </a:rPr>
              <a:t>is</a:t>
            </a:r>
            <a:r>
              <a:rPr lang="en-IN" sz="1600" dirty="0">
                <a:latin typeface="Consolas"/>
                <a:cs typeface="Consolas"/>
              </a:rPr>
              <a:t> an</a:t>
            </a:r>
            <a:r>
              <a:rPr lang="en-IN" sz="1600" spc="-4" dirty="0">
                <a:latin typeface="Consolas"/>
                <a:cs typeface="Consolas"/>
              </a:rPr>
              <a:t> example </a:t>
            </a:r>
            <a:r>
              <a:rPr lang="en-IN" sz="1600" dirty="0">
                <a:latin typeface="Consolas"/>
                <a:cs typeface="Consolas"/>
              </a:rPr>
              <a:t>of</a:t>
            </a:r>
            <a:r>
              <a:rPr lang="en-IN" sz="1600" spc="-38" dirty="0">
                <a:latin typeface="Consolas"/>
                <a:cs typeface="Consolas"/>
              </a:rPr>
              <a:t> </a:t>
            </a:r>
            <a:r>
              <a:rPr lang="en-IN" sz="1600" spc="-4" dirty="0">
                <a:latin typeface="Consolas"/>
                <a:cs typeface="Consolas"/>
              </a:rPr>
              <a:t>ajax&lt;/h1&gt;</a:t>
            </a:r>
            <a:endParaRPr lang="en-IN" sz="1600" dirty="0">
              <a:latin typeface="Consolas"/>
              <a:cs typeface="Consolas"/>
            </a:endParaRPr>
          </a:p>
          <a:p>
            <a:pPr marL="9525">
              <a:spcBef>
                <a:spcPts val="263"/>
              </a:spcBef>
            </a:pPr>
            <a:r>
              <a:rPr lang="en-IN" sz="1600" dirty="0">
                <a:latin typeface="Consolas"/>
                <a:cs typeface="Consolas"/>
              </a:rPr>
              <a:t>&lt;form</a:t>
            </a:r>
            <a:r>
              <a:rPr lang="en-IN" sz="1600" spc="-19" dirty="0">
                <a:latin typeface="Consolas"/>
                <a:cs typeface="Consolas"/>
              </a:rPr>
              <a:t> </a:t>
            </a:r>
            <a:r>
              <a:rPr lang="en-IN" sz="1600" dirty="0">
                <a:latin typeface="Consolas"/>
                <a:cs typeface="Consolas"/>
              </a:rPr>
              <a:t>name=“f1"&gt;</a:t>
            </a:r>
          </a:p>
          <a:p>
            <a:pPr marL="9525">
              <a:spcBef>
                <a:spcPts val="323"/>
              </a:spcBef>
            </a:pPr>
            <a:r>
              <a:rPr lang="en-IN" sz="1600" dirty="0">
                <a:latin typeface="Consolas"/>
                <a:cs typeface="Consolas"/>
              </a:rPr>
              <a:t>&lt;input</a:t>
            </a:r>
            <a:r>
              <a:rPr lang="en-IN" sz="1600" spc="8" dirty="0">
                <a:latin typeface="Consolas"/>
                <a:cs typeface="Consolas"/>
              </a:rPr>
              <a:t> </a:t>
            </a:r>
            <a:r>
              <a:rPr lang="en-IN" sz="1600" dirty="0">
                <a:latin typeface="Consolas"/>
                <a:cs typeface="Consolas"/>
              </a:rPr>
              <a:t>type="text"</a:t>
            </a:r>
            <a:r>
              <a:rPr lang="en-IN" sz="1600" spc="4" dirty="0">
                <a:latin typeface="Consolas"/>
                <a:cs typeface="Consolas"/>
              </a:rPr>
              <a:t> </a:t>
            </a:r>
            <a:r>
              <a:rPr lang="en-IN" sz="1600" dirty="0">
                <a:latin typeface="Consolas"/>
                <a:cs typeface="Consolas"/>
              </a:rPr>
              <a:t>name="t1"&gt;</a:t>
            </a:r>
          </a:p>
          <a:p>
            <a:pPr marL="9525">
              <a:spcBef>
                <a:spcPts val="251"/>
              </a:spcBef>
            </a:pPr>
            <a:r>
              <a:rPr lang="en-IN" sz="1600" dirty="0">
                <a:latin typeface="Consolas"/>
                <a:cs typeface="Consolas"/>
              </a:rPr>
              <a:t>&lt;input</a:t>
            </a:r>
            <a:r>
              <a:rPr lang="en-IN" sz="1600" spc="11" dirty="0">
                <a:latin typeface="Consolas"/>
                <a:cs typeface="Consolas"/>
              </a:rPr>
              <a:t> </a:t>
            </a:r>
            <a:r>
              <a:rPr lang="en-IN" sz="1600" dirty="0">
                <a:latin typeface="Consolas"/>
                <a:cs typeface="Consolas"/>
              </a:rPr>
              <a:t>type="button"</a:t>
            </a:r>
            <a:r>
              <a:rPr lang="en-IN" sz="1600" spc="4" dirty="0">
                <a:latin typeface="Consolas"/>
                <a:cs typeface="Consolas"/>
              </a:rPr>
              <a:t> </a:t>
            </a:r>
            <a:r>
              <a:rPr lang="en-IN" sz="1600" dirty="0">
                <a:latin typeface="Consolas"/>
                <a:cs typeface="Consolas"/>
              </a:rPr>
              <a:t>value="</a:t>
            </a:r>
            <a:r>
              <a:rPr lang="en-IN" sz="1600" dirty="0" err="1">
                <a:latin typeface="Consolas"/>
                <a:cs typeface="Consolas"/>
              </a:rPr>
              <a:t>ShowTable</a:t>
            </a:r>
            <a:r>
              <a:rPr lang="en-IN" sz="1600" dirty="0">
                <a:latin typeface="Consolas"/>
                <a:cs typeface="Consolas"/>
              </a:rPr>
              <a:t>"</a:t>
            </a:r>
          </a:p>
          <a:p>
            <a:pPr marL="9525">
              <a:spcBef>
                <a:spcPts val="4"/>
              </a:spcBef>
            </a:pPr>
            <a:r>
              <a:rPr lang="en-IN" sz="1600" dirty="0" err="1">
                <a:latin typeface="Consolas"/>
                <a:cs typeface="Consolas"/>
              </a:rPr>
              <a:t>onClick</a:t>
            </a:r>
            <a:r>
              <a:rPr lang="en-IN" sz="1600" dirty="0">
                <a:latin typeface="Consolas"/>
                <a:cs typeface="Consolas"/>
              </a:rPr>
              <a:t>="</a:t>
            </a:r>
            <a:r>
              <a:rPr lang="en-IN" sz="1600" dirty="0" err="1">
                <a:latin typeface="Consolas"/>
                <a:cs typeface="Consolas"/>
              </a:rPr>
              <a:t>sendInfo</a:t>
            </a:r>
            <a:r>
              <a:rPr lang="en-IN" sz="1600" dirty="0">
                <a:latin typeface="Consolas"/>
                <a:cs typeface="Consolas"/>
              </a:rPr>
              <a:t>()"&gt;</a:t>
            </a:r>
          </a:p>
          <a:p>
            <a:pPr marL="9525">
              <a:spcBef>
                <a:spcPts val="251"/>
              </a:spcBef>
            </a:pPr>
            <a:r>
              <a:rPr lang="en-IN" sz="1600" dirty="0">
                <a:latin typeface="Consolas"/>
                <a:cs typeface="Consolas"/>
              </a:rPr>
              <a:t>&lt;/form&gt;</a:t>
            </a:r>
          </a:p>
          <a:p>
            <a:pPr marL="9525">
              <a:spcBef>
                <a:spcPts val="251"/>
              </a:spcBef>
            </a:pPr>
            <a:r>
              <a:rPr lang="en-IN" sz="1600" dirty="0">
                <a:latin typeface="Consolas"/>
                <a:cs typeface="Consolas"/>
              </a:rPr>
              <a:t>&lt;span id="</a:t>
            </a:r>
            <a:r>
              <a:rPr lang="en-IN" sz="1600" dirty="0" err="1">
                <a:latin typeface="Consolas"/>
                <a:cs typeface="Consolas"/>
              </a:rPr>
              <a:t>amit</a:t>
            </a:r>
            <a:r>
              <a:rPr lang="en-IN" sz="1600" dirty="0">
                <a:latin typeface="Consolas"/>
                <a:cs typeface="Consolas"/>
              </a:rPr>
              <a:t>"&gt;</a:t>
            </a:r>
            <a:r>
              <a:rPr lang="en-IN" sz="1600" spc="-4" dirty="0">
                <a:latin typeface="Consolas"/>
                <a:cs typeface="Consolas"/>
              </a:rPr>
              <a:t> </a:t>
            </a:r>
            <a:r>
              <a:rPr lang="en-IN" sz="1600" dirty="0">
                <a:latin typeface="Consolas"/>
                <a:cs typeface="Consolas"/>
              </a:rPr>
              <a:t>&lt;/span&gt;</a:t>
            </a:r>
          </a:p>
          <a:p>
            <a:pPr marL="113348">
              <a:spcBef>
                <a:spcPts val="244"/>
              </a:spcBef>
            </a:pPr>
            <a:r>
              <a:rPr lang="en-IN" sz="1600" spc="-4" dirty="0">
                <a:solidFill>
                  <a:srgbClr val="3E7E7E"/>
                </a:solidFill>
                <a:latin typeface="Consolas"/>
                <a:cs typeface="Consolas"/>
              </a:rPr>
              <a:t>&lt;/body&gt;</a:t>
            </a:r>
            <a:endParaRPr lang="en-IN" sz="1600" dirty="0">
              <a:latin typeface="Consolas"/>
              <a:cs typeface="Consolas"/>
            </a:endParaRPr>
          </a:p>
          <a:p>
            <a:pPr marL="9525">
              <a:spcBef>
                <a:spcPts val="263"/>
              </a:spcBef>
            </a:pPr>
            <a:r>
              <a:rPr lang="en-IN" sz="1600" dirty="0">
                <a:solidFill>
                  <a:srgbClr val="3E7E7E"/>
                </a:solidFill>
                <a:latin typeface="Consolas"/>
                <a:cs typeface="Consolas"/>
              </a:rPr>
              <a:t>&lt;/html&gt;</a:t>
            </a:r>
            <a:endParaRPr lang="en-IN" sz="16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916" y="341797"/>
            <a:ext cx="6615684" cy="686246"/>
          </a:xfrm>
          <a:prstGeom prst="rect">
            <a:avLst/>
          </a:prstGeom>
        </p:spPr>
        <p:txBody>
          <a:bodyPr vert="horz" wrap="square" lIns="0" tIns="904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1"/>
              </a:spcBef>
            </a:pPr>
            <a:r>
              <a:rPr spc="-101" dirty="0"/>
              <a:t>A</a:t>
            </a:r>
            <a:r>
              <a:rPr spc="-153" dirty="0"/>
              <a:t>J</a:t>
            </a:r>
            <a:r>
              <a:rPr spc="-75" dirty="0"/>
              <a:t>A</a:t>
            </a:r>
            <a:r>
              <a:rPr spc="-4" dirty="0"/>
              <a:t>X</a:t>
            </a:r>
            <a:r>
              <a:rPr spc="-165" dirty="0"/>
              <a:t> </a:t>
            </a:r>
            <a:r>
              <a:rPr spc="-79" dirty="0"/>
              <a:t>E</a:t>
            </a:r>
            <a:r>
              <a:rPr spc="-124" dirty="0"/>
              <a:t>x</a:t>
            </a:r>
            <a:r>
              <a:rPr spc="-79" dirty="0"/>
              <a:t>a</a:t>
            </a:r>
            <a:r>
              <a:rPr spc="-75" dirty="0"/>
              <a:t>m</a:t>
            </a:r>
            <a:r>
              <a:rPr spc="-79" dirty="0"/>
              <a:t>p</a:t>
            </a:r>
            <a:r>
              <a:rPr spc="-75" dirty="0"/>
              <a:t>le</a:t>
            </a:r>
            <a:r>
              <a:rPr spc="-4" dirty="0"/>
              <a:t>-</a:t>
            </a:r>
            <a:r>
              <a:rPr spc="-150" dirty="0"/>
              <a:t> </a:t>
            </a:r>
            <a:r>
              <a:rPr spc="-83" dirty="0">
                <a:solidFill>
                  <a:srgbClr val="FF0000"/>
                </a:solidFill>
              </a:rPr>
              <a:t>i</a:t>
            </a:r>
            <a:r>
              <a:rPr spc="-75" dirty="0">
                <a:solidFill>
                  <a:srgbClr val="FF0000"/>
                </a:solidFill>
              </a:rPr>
              <a:t>n</a:t>
            </a:r>
            <a:r>
              <a:rPr spc="-79" dirty="0">
                <a:solidFill>
                  <a:srgbClr val="FF0000"/>
                </a:solidFill>
              </a:rPr>
              <a:t>d</a:t>
            </a:r>
            <a:r>
              <a:rPr spc="-113" dirty="0">
                <a:solidFill>
                  <a:srgbClr val="FF0000"/>
                </a:solidFill>
              </a:rPr>
              <a:t>e</a:t>
            </a:r>
            <a:r>
              <a:rPr spc="-79" dirty="0">
                <a:solidFill>
                  <a:srgbClr val="FF0000"/>
                </a:solidFill>
              </a:rPr>
              <a:t>x</a:t>
            </a:r>
            <a:r>
              <a:rPr spc="-75" dirty="0">
                <a:solidFill>
                  <a:srgbClr val="FF0000"/>
                </a:solidFill>
              </a:rPr>
              <a:t>.</a:t>
            </a:r>
            <a:r>
              <a:rPr spc="-79" dirty="0">
                <a:solidFill>
                  <a:srgbClr val="FF0000"/>
                </a:solidFill>
              </a:rPr>
              <a:t>j</a:t>
            </a:r>
            <a:r>
              <a:rPr spc="-75" dirty="0">
                <a:solidFill>
                  <a:srgbClr val="FF0000"/>
                </a:solidFill>
              </a:rPr>
              <a:t>s</a:t>
            </a:r>
            <a:r>
              <a:rPr spc="-4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1916" y="2130519"/>
            <a:ext cx="7440168" cy="1301671"/>
          </a:xfrm>
          <a:prstGeom prst="rect">
            <a:avLst/>
          </a:prstGeom>
        </p:spPr>
        <p:txBody>
          <a:bodyPr vert="horz" wrap="square" lIns="0" tIns="54769" rIns="0" bIns="0" rtlCol="0">
            <a:spAutoFit/>
          </a:bodyPr>
          <a:lstStyle/>
          <a:p>
            <a:pPr marL="9525">
              <a:spcBef>
                <a:spcPts val="431"/>
              </a:spcBef>
            </a:pPr>
            <a:r>
              <a:rPr dirty="0">
                <a:solidFill>
                  <a:srgbClr val="3E7E7E"/>
                </a:solidFill>
                <a:latin typeface="Consolas"/>
                <a:cs typeface="Consolas"/>
              </a:rPr>
              <a:t>&lt;%</a:t>
            </a:r>
            <a:endParaRPr dirty="0">
              <a:latin typeface="Consolas"/>
              <a:cs typeface="Consolas"/>
            </a:endParaRPr>
          </a:p>
          <a:p>
            <a:pPr marL="41433">
              <a:spcBef>
                <a:spcPts val="360"/>
              </a:spcBef>
            </a:pPr>
            <a:r>
              <a:rPr dirty="0">
                <a:solidFill>
                  <a:srgbClr val="7E0054"/>
                </a:solidFill>
                <a:latin typeface="Consolas"/>
                <a:cs typeface="Consolas"/>
              </a:rPr>
              <a:t>int</a:t>
            </a:r>
            <a:r>
              <a:rPr spc="71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pc="-4" dirty="0">
                <a:latin typeface="Consolas"/>
                <a:cs typeface="Consolas"/>
              </a:rPr>
              <a:t>n=Integer.parseInt(request.getParameter("val"));</a:t>
            </a:r>
            <a:endParaRPr dirty="0">
              <a:latin typeface="Consolas"/>
              <a:cs typeface="Consolas"/>
            </a:endParaRPr>
          </a:p>
          <a:p>
            <a:pPr marL="146209" marR="3042284">
              <a:lnSpc>
                <a:spcPct val="120000"/>
              </a:lnSpc>
              <a:spcBef>
                <a:spcPts val="4"/>
              </a:spcBef>
            </a:pPr>
            <a:r>
              <a:rPr dirty="0">
                <a:solidFill>
                  <a:srgbClr val="7E0054"/>
                </a:solidFill>
                <a:latin typeface="Consolas"/>
                <a:cs typeface="Consolas"/>
              </a:rPr>
              <a:t>for</a:t>
            </a:r>
            <a:r>
              <a:rPr dirty="0">
                <a:latin typeface="Consolas"/>
                <a:cs typeface="Consolas"/>
              </a:rPr>
              <a:t>(int</a:t>
            </a:r>
            <a:r>
              <a:rPr spc="-38" dirty="0">
                <a:latin typeface="Consolas"/>
                <a:cs typeface="Consolas"/>
              </a:rPr>
              <a:t> </a:t>
            </a:r>
            <a:r>
              <a:rPr spc="-4" dirty="0">
                <a:latin typeface="Consolas"/>
                <a:cs typeface="Consolas"/>
              </a:rPr>
              <a:t>i=1;i&lt;=10;i++) </a:t>
            </a:r>
            <a:r>
              <a:rPr spc="-814" dirty="0">
                <a:latin typeface="Consolas"/>
                <a:cs typeface="Consolas"/>
              </a:rPr>
              <a:t> </a:t>
            </a:r>
            <a:r>
              <a:rPr spc="-4" dirty="0">
                <a:latin typeface="Consolas"/>
                <a:cs typeface="Consolas"/>
              </a:rPr>
              <a:t>out.print(i*n+"&lt;</a:t>
            </a:r>
            <a:r>
              <a:rPr spc="-4" dirty="0" err="1">
                <a:latin typeface="Consolas"/>
                <a:cs typeface="Consolas"/>
              </a:rPr>
              <a:t>br</a:t>
            </a:r>
            <a:r>
              <a:rPr spc="-4" dirty="0">
                <a:latin typeface="Consolas"/>
                <a:cs typeface="Consolas"/>
              </a:rPr>
              <a:t>&gt;");</a:t>
            </a:r>
            <a:r>
              <a:rPr dirty="0">
                <a:solidFill>
                  <a:srgbClr val="3E7E7E"/>
                </a:solidFill>
                <a:latin typeface="Consolas"/>
                <a:cs typeface="Consolas"/>
              </a:rPr>
              <a:t>%&gt;</a:t>
            </a:r>
            <a:endParaRPr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354827"/>
            <a:ext cx="5894070" cy="686246"/>
          </a:xfrm>
          <a:prstGeom prst="rect">
            <a:avLst/>
          </a:prstGeom>
        </p:spPr>
        <p:txBody>
          <a:bodyPr vert="horz" wrap="square" lIns="0" tIns="904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1"/>
              </a:spcBef>
            </a:pPr>
            <a:r>
              <a:rPr b="1" spc="-75" dirty="0"/>
              <a:t>A</a:t>
            </a:r>
            <a:r>
              <a:rPr lang="en-IN" b="1" spc="-75" dirty="0"/>
              <a:t>J</a:t>
            </a:r>
            <a:r>
              <a:rPr b="1" spc="-75" dirty="0"/>
              <a:t>A</a:t>
            </a:r>
            <a:r>
              <a:rPr b="1" spc="-4" dirty="0"/>
              <a:t>X</a:t>
            </a:r>
            <a:r>
              <a:rPr b="1" spc="-172" dirty="0"/>
              <a:t> </a:t>
            </a:r>
            <a:r>
              <a:rPr b="1" spc="-79" dirty="0"/>
              <a:t>E</a:t>
            </a:r>
            <a:r>
              <a:rPr b="1" spc="-124" dirty="0"/>
              <a:t>x</a:t>
            </a:r>
            <a:r>
              <a:rPr b="1" spc="-79" dirty="0"/>
              <a:t>a</a:t>
            </a:r>
            <a:r>
              <a:rPr b="1" spc="-71" dirty="0"/>
              <a:t>m</a:t>
            </a:r>
            <a:r>
              <a:rPr b="1" spc="-79" dirty="0"/>
              <a:t>p</a:t>
            </a:r>
            <a:r>
              <a:rPr b="1" spc="-75" dirty="0"/>
              <a:t>l</a:t>
            </a:r>
            <a:r>
              <a:rPr b="1" spc="-4" dirty="0"/>
              <a:t>e</a:t>
            </a:r>
            <a:r>
              <a:rPr b="1" spc="-150" dirty="0"/>
              <a:t> </a:t>
            </a:r>
            <a:r>
              <a:rPr b="1" spc="-79" dirty="0"/>
              <a:t>o</a:t>
            </a:r>
            <a:r>
              <a:rPr b="1" spc="-71" dirty="0"/>
              <a:t>ut</a:t>
            </a:r>
            <a:r>
              <a:rPr b="1" spc="-79" dirty="0"/>
              <a:t>p</a:t>
            </a:r>
            <a:r>
              <a:rPr b="1" spc="-71" dirty="0"/>
              <a:t>u</a:t>
            </a:r>
            <a:r>
              <a:rPr b="1" spc="-4" dirty="0"/>
              <a:t>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61285" y="1637896"/>
            <a:ext cx="3821430" cy="4099559"/>
            <a:chOff x="2116835" y="1252727"/>
            <a:chExt cx="5095240" cy="56057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6835" y="3275076"/>
              <a:ext cx="5094732" cy="358292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11907" y="3470146"/>
              <a:ext cx="4524756" cy="338785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72283" y="1252727"/>
              <a:ext cx="4779264" cy="20755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67355" y="1447799"/>
              <a:ext cx="4209288" cy="150571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229861" y="2954273"/>
              <a:ext cx="381000" cy="516890"/>
            </a:xfrm>
            <a:custGeom>
              <a:avLst/>
              <a:gdLst/>
              <a:ahLst/>
              <a:cxnLst/>
              <a:rect l="l" t="t" r="r" b="b"/>
              <a:pathLst>
                <a:path w="381000" h="516889">
                  <a:moveTo>
                    <a:pt x="285750" y="0"/>
                  </a:moveTo>
                  <a:lnTo>
                    <a:pt x="95250" y="0"/>
                  </a:lnTo>
                  <a:lnTo>
                    <a:pt x="95250" y="326136"/>
                  </a:lnTo>
                  <a:lnTo>
                    <a:pt x="0" y="326136"/>
                  </a:lnTo>
                  <a:lnTo>
                    <a:pt x="190500" y="516636"/>
                  </a:lnTo>
                  <a:lnTo>
                    <a:pt x="381000" y="326136"/>
                  </a:lnTo>
                  <a:lnTo>
                    <a:pt x="285750" y="326136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A9A47B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9" name="object 9"/>
            <p:cNvSpPr/>
            <p:nvPr/>
          </p:nvSpPr>
          <p:spPr>
            <a:xfrm>
              <a:off x="4229861" y="2954273"/>
              <a:ext cx="381000" cy="516890"/>
            </a:xfrm>
            <a:custGeom>
              <a:avLst/>
              <a:gdLst/>
              <a:ahLst/>
              <a:cxnLst/>
              <a:rect l="l" t="t" r="r" b="b"/>
              <a:pathLst>
                <a:path w="381000" h="516889">
                  <a:moveTo>
                    <a:pt x="0" y="326136"/>
                  </a:moveTo>
                  <a:lnTo>
                    <a:pt x="95250" y="326136"/>
                  </a:lnTo>
                  <a:lnTo>
                    <a:pt x="95250" y="0"/>
                  </a:lnTo>
                  <a:lnTo>
                    <a:pt x="285750" y="0"/>
                  </a:lnTo>
                  <a:lnTo>
                    <a:pt x="285750" y="326136"/>
                  </a:lnTo>
                  <a:lnTo>
                    <a:pt x="381000" y="326136"/>
                  </a:lnTo>
                  <a:lnTo>
                    <a:pt x="190500" y="516636"/>
                  </a:lnTo>
                  <a:lnTo>
                    <a:pt x="0" y="326136"/>
                  </a:lnTo>
                  <a:close/>
                </a:path>
              </a:pathLst>
            </a:custGeom>
            <a:ln w="25908">
              <a:solidFill>
                <a:srgbClr val="7A7858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006" y="304800"/>
            <a:ext cx="3922394" cy="686246"/>
          </a:xfrm>
          <a:prstGeom prst="rect">
            <a:avLst/>
          </a:prstGeom>
        </p:spPr>
        <p:txBody>
          <a:bodyPr vert="horz" wrap="square" lIns="0" tIns="904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1"/>
              </a:spcBef>
            </a:pPr>
            <a:r>
              <a:rPr spc="-86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4803" y="1905000"/>
            <a:ext cx="8819197" cy="870912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180975" indent="-171450">
              <a:spcBef>
                <a:spcPts val="4"/>
              </a:spcBef>
              <a:buClr>
                <a:srgbClr val="A9A47B"/>
              </a:buClr>
              <a:buFont typeface="Arial MT"/>
              <a:buChar char="•"/>
              <a:tabLst>
                <a:tab pos="180499" algn="l"/>
                <a:tab pos="180975" algn="l"/>
              </a:tabLst>
            </a:pPr>
            <a:r>
              <a:rPr sz="2800" u="heavy" spc="-11" dirty="0">
                <a:solidFill>
                  <a:srgbClr val="D25713"/>
                </a:solidFill>
                <a:uFill>
                  <a:solidFill>
                    <a:srgbClr val="D25713"/>
                  </a:solidFill>
                </a:uFill>
                <a:latin typeface="Calibri"/>
                <a:cs typeface="Calibri"/>
                <a:hlinkClick r:id="rId2"/>
              </a:rPr>
              <a:t>https://www.w3schools.com/xml/ajax_intro.asp</a:t>
            </a:r>
            <a:endParaRPr sz="2800" dirty="0">
              <a:latin typeface="Calibri"/>
              <a:cs typeface="Calibri"/>
            </a:endParaRPr>
          </a:p>
          <a:p>
            <a:pPr marL="180975" indent="-171450">
              <a:buClr>
                <a:srgbClr val="A9A47B"/>
              </a:buClr>
              <a:buFont typeface="Arial MT"/>
              <a:buChar char="•"/>
              <a:tabLst>
                <a:tab pos="180499" algn="l"/>
                <a:tab pos="180975" algn="l"/>
              </a:tabLst>
            </a:pPr>
            <a:r>
              <a:rPr sz="2800" u="heavy" spc="-11" dirty="0">
                <a:solidFill>
                  <a:srgbClr val="D25713"/>
                </a:solidFill>
                <a:uFill>
                  <a:solidFill>
                    <a:srgbClr val="D25713"/>
                  </a:solidFill>
                </a:uFill>
                <a:latin typeface="Calibri"/>
                <a:cs typeface="Calibri"/>
                <a:hlinkClick r:id="rId3"/>
              </a:rPr>
              <a:t>https://www.tutorialspoint.com/ajax/ajax_examples.htm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2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2859</TotalTime>
  <Words>1744</Words>
  <Application>Microsoft Office PowerPoint</Application>
  <PresentationFormat>On-screen Show (4:3)</PresentationFormat>
  <Paragraphs>314</Paragraphs>
  <Slides>46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Theme2</vt:lpstr>
      <vt:lpstr>AJAX</vt:lpstr>
      <vt:lpstr>Back then :</vt:lpstr>
      <vt:lpstr>And you get this :</vt:lpstr>
      <vt:lpstr>Synchronous web communication</vt:lpstr>
      <vt:lpstr>These days ::</vt:lpstr>
      <vt:lpstr>Asynchronous web communication</vt:lpstr>
      <vt:lpstr>Introduction to AJAX</vt:lpstr>
      <vt:lpstr>So what is Ajax ?</vt:lpstr>
      <vt:lpstr>Order of Developments</vt:lpstr>
      <vt:lpstr>PowerPoint Presentation</vt:lpstr>
      <vt:lpstr>PowerPoint Presentation</vt:lpstr>
      <vt:lpstr>What is AJAX  AJAX = Asynchronous JavaScript And XML. </vt:lpstr>
      <vt:lpstr>AJAX - Technologies</vt:lpstr>
      <vt:lpstr>Traditional vs. AJAX Web Application</vt:lpstr>
      <vt:lpstr>Why use AJAX</vt:lpstr>
      <vt:lpstr>How it works</vt:lpstr>
      <vt:lpstr>How AJAX Works</vt:lpstr>
      <vt:lpstr>AJAX Processing Steps</vt:lpstr>
      <vt:lpstr>Applications</vt:lpstr>
      <vt:lpstr>XMLHttpRequest  (and why we won't use it)</vt:lpstr>
      <vt:lpstr>XMLHttpRequest  (and why we won't use it)</vt:lpstr>
      <vt:lpstr>A typical Ajax request</vt:lpstr>
      <vt:lpstr>Difference between synchronous &amp; asynchronous requests </vt:lpstr>
      <vt:lpstr>What is the purpose of XMLHttpRequest?</vt:lpstr>
      <vt:lpstr>Methods of XMLHttpRequest object</vt:lpstr>
      <vt:lpstr>A typical Ajax request</vt:lpstr>
      <vt:lpstr>How to AJAX</vt:lpstr>
      <vt:lpstr>Prototype's Ajax model</vt:lpstr>
      <vt:lpstr>Steps to Process AJAXs</vt:lpstr>
      <vt:lpstr>Prototype Ajax methods and properties</vt:lpstr>
      <vt:lpstr>Prototype Ajax methods and properties</vt:lpstr>
      <vt:lpstr>Basic Prototype Ajax template</vt:lpstr>
      <vt:lpstr>XMLHttpRequest security restrictions</vt:lpstr>
      <vt:lpstr>Handling Ajax errors</vt:lpstr>
      <vt:lpstr>Debugging Ajax code</vt:lpstr>
      <vt:lpstr>Creating a POST request</vt:lpstr>
      <vt:lpstr>Creating a POST request</vt:lpstr>
      <vt:lpstr>Prototype's Ajax Updater</vt:lpstr>
      <vt:lpstr> Benefits of using Ajax </vt:lpstr>
      <vt:lpstr> A Few Drawbacks </vt:lpstr>
      <vt:lpstr>PowerPoint Presentation</vt:lpstr>
      <vt:lpstr>PowerPoint Presentation</vt:lpstr>
      <vt:lpstr>AJAX Example – table.html</vt:lpstr>
      <vt:lpstr>AJAX Example- index.jsp</vt:lpstr>
      <vt:lpstr>AJAX Example output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Ajax</dc:title>
  <dc:creator>Xenia Mountrouidou</dc:creator>
  <cp:lastModifiedBy>Pradnya Mehta</cp:lastModifiedBy>
  <cp:revision>57</cp:revision>
  <dcterms:created xsi:type="dcterms:W3CDTF">2011-10-23T03:09:42Z</dcterms:created>
  <dcterms:modified xsi:type="dcterms:W3CDTF">2025-02-18T03:26:53Z</dcterms:modified>
</cp:coreProperties>
</file>